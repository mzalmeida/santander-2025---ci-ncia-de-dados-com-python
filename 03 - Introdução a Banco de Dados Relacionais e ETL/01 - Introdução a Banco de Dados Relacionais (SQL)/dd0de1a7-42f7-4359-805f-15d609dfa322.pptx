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4"/>
  </p:sldMasterIdLst>
  <p:notesMasterIdLst>
    <p:notesMasterId r:id="rId13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35" r:id="rId84"/>
    <p:sldId id="336" r:id="rId85"/>
    <p:sldId id="337" r:id="rId86"/>
    <p:sldId id="338" r:id="rId87"/>
    <p:sldId id="339" r:id="rId88"/>
    <p:sldId id="340" r:id="rId89"/>
    <p:sldId id="341" r:id="rId90"/>
    <p:sldId id="342" r:id="rId91"/>
    <p:sldId id="343" r:id="rId92"/>
    <p:sldId id="344" r:id="rId93"/>
    <p:sldId id="345" r:id="rId94"/>
    <p:sldId id="346" r:id="rId95"/>
    <p:sldId id="347" r:id="rId96"/>
    <p:sldId id="348" r:id="rId97"/>
    <p:sldId id="349" r:id="rId98"/>
    <p:sldId id="350" r:id="rId99"/>
    <p:sldId id="351" r:id="rId100"/>
    <p:sldId id="352" r:id="rId101"/>
    <p:sldId id="353" r:id="rId102"/>
    <p:sldId id="354" r:id="rId103"/>
    <p:sldId id="355" r:id="rId104"/>
    <p:sldId id="356" r:id="rId105"/>
    <p:sldId id="357" r:id="rId106"/>
    <p:sldId id="358" r:id="rId107"/>
    <p:sldId id="359" r:id="rId108"/>
    <p:sldId id="360" r:id="rId109"/>
    <p:sldId id="361" r:id="rId110"/>
    <p:sldId id="362" r:id="rId111"/>
    <p:sldId id="363" r:id="rId112"/>
    <p:sldId id="364" r:id="rId113"/>
    <p:sldId id="365" r:id="rId114"/>
    <p:sldId id="366" r:id="rId115"/>
    <p:sldId id="367" r:id="rId116"/>
    <p:sldId id="368" r:id="rId117"/>
    <p:sldId id="369" r:id="rId118"/>
    <p:sldId id="370" r:id="rId119"/>
    <p:sldId id="371" r:id="rId120"/>
    <p:sldId id="372" r:id="rId121"/>
    <p:sldId id="373" r:id="rId122"/>
    <p:sldId id="374" r:id="rId123"/>
    <p:sldId id="375" r:id="rId124"/>
    <p:sldId id="376" r:id="rId125"/>
    <p:sldId id="377" r:id="rId126"/>
    <p:sldId id="378" r:id="rId127"/>
    <p:sldId id="379" r:id="rId128"/>
    <p:sldId id="380" r:id="rId129"/>
    <p:sldId id="381" r:id="rId130"/>
    <p:sldId id="382" r:id="rId131"/>
    <p:sldId id="383" r:id="rId132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34"/>
      <p:bold r:id="rId135"/>
      <p:italic r:id="rId136"/>
      <p:boldItalic r:id="rId1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126" y="3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63" Type="http://schemas.openxmlformats.org/officeDocument/2006/relationships/slide" Target="slides/slide59.xml"/><Relationship Id="rId84" Type="http://schemas.openxmlformats.org/officeDocument/2006/relationships/slide" Target="slides/slide80.xml"/><Relationship Id="rId138" Type="http://schemas.openxmlformats.org/officeDocument/2006/relationships/presProps" Target="presProps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Relationship Id="rId128" Type="http://schemas.openxmlformats.org/officeDocument/2006/relationships/slide" Target="slides/slide124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18" Type="http://schemas.openxmlformats.org/officeDocument/2006/relationships/slide" Target="slides/slide114.xml"/><Relationship Id="rId134" Type="http://schemas.openxmlformats.org/officeDocument/2006/relationships/font" Target="fonts/font1.fntdata"/><Relationship Id="rId139" Type="http://schemas.openxmlformats.org/officeDocument/2006/relationships/viewProps" Target="viewProps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124" Type="http://schemas.openxmlformats.org/officeDocument/2006/relationships/slide" Target="slides/slide120.xml"/><Relationship Id="rId129" Type="http://schemas.openxmlformats.org/officeDocument/2006/relationships/slide" Target="slides/slide125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4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130" Type="http://schemas.openxmlformats.org/officeDocument/2006/relationships/slide" Target="slides/slide126.xml"/><Relationship Id="rId135" Type="http://schemas.openxmlformats.org/officeDocument/2006/relationships/font" Target="fonts/font2.fntdata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slide" Target="slides/slide116.xml"/><Relationship Id="rId125" Type="http://schemas.openxmlformats.org/officeDocument/2006/relationships/slide" Target="slides/slide121.xml"/><Relationship Id="rId141" Type="http://schemas.openxmlformats.org/officeDocument/2006/relationships/tableStyles" Target="tableStyle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131" Type="http://schemas.openxmlformats.org/officeDocument/2006/relationships/slide" Target="slides/slide127.xml"/><Relationship Id="rId136" Type="http://schemas.openxmlformats.org/officeDocument/2006/relationships/font" Target="fonts/font3.fntdata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137" Type="http://schemas.openxmlformats.org/officeDocument/2006/relationships/font" Target="fonts/font4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32" Type="http://schemas.openxmlformats.org/officeDocument/2006/relationships/slide" Target="slides/slide128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27" Type="http://schemas.openxmlformats.org/officeDocument/2006/relationships/slide" Target="slides/slide12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47" Type="http://schemas.openxmlformats.org/officeDocument/2006/relationships/slide" Target="slides/slide43.xml"/><Relationship Id="rId68" Type="http://schemas.openxmlformats.org/officeDocument/2006/relationships/slide" Target="slides/slide64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33" Type="http://schemas.openxmlformats.org/officeDocument/2006/relationships/notesMaster" Target="notesMasters/notesMaster1.xml"/><Relationship Id="rId16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/>
              <a:t>Liste aqui os pré-requisitos para o tema, desde configurações do ambiente até as noções básicas necessárias para uma melhor assimilação do conteúdo.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/>
              <a:t>Sumarize aqui os conteúdos/assuntos que serão abordados durante o curso. Caso o seu curso tenha poucas vídeoaulas, no máximo 06, pode listá-las e então comente tecnicamente o conteúdo que será abordado. Caso o seu curso possua mais de 6 vídeoaulas, sugerimos agrupá-las em assuntos maiores para comentar especialmente neste slide. 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55c3c102fd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255c3c102fd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/>
              <a:t>Sumarize aqui os conteúdos/assuntos que serão abordados durante o curso. Caso o seu curso tenha poucas vídeoaulas, no máximo 06, pode listá-las e então comente tecnicamente o conteúdo que será abordado. Caso o seu curso possua mais de 6 vídeoaulas, sugerimos agrupá-las em assuntos maiores para comentar especialmente neste slide. 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0a825d21ad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g20a825d21ad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0a825d21ad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20a825d21ad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0a825d21a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g20a825d21a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0a825d21ad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20a825d21ad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0a825d21ad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g20a825d21ad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e45c2fcbd5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g1e45c2fcbd5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1" i="1"/>
              <a:t>Adicione aqui links úteis como o Repositório no GitHub, Documentação Oficial, Referências e materiais complementares. 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0a825d21ad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20a825d21ad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564a4c84b7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2564a4c84b7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564a4c84b7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2564a4c84b7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1" i="1"/>
              <a:t>Adicione aqui links úteis como o Repositório no GitHub, Documentação Oficial, Referências e materiais complementares. 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e45d81c95e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g1e45d81c95e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0a825d21ad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20a825d21ad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e45d81c95e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g1e45d81c95e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e45d81c95e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g1e45d81c95e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564a4c84b7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g2564a4c84b7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e4870b144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1e4870b144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1" i="1"/>
              <a:t>Adicione aqui links úteis como o Repositório no GitHub, Documentação Oficial, Referências e materiais complementares. 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e45d81c95e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g1e45d81c95e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0a825d21ad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20a825d21ad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56cef8bc21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g256cef8bc21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56cef8bc2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256cef8bc2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56cef8bc21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g256cef8bc21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56cef8bc21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256cef8bc21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56cef8bc21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g256cef8bc21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56cef8bc21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256cef8bc21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56cef8bc21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g256cef8bc21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56cef8bc21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g256cef8bc21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56cef8bc21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g256cef8bc21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1" i="1"/>
              <a:t>Adicione aqui links úteis como o Repositório no GitHub, Documentação Oficial, Referências e materiais complementares. 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e45d81c95e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g1e45d81c95e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0a825d21ad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20a825d21ad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56d44075d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256d44075d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56d44075d1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256d44075d1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56cef8bc21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g256cef8bc21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56d44075d1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256d44075d1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5706373740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25706373740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56d44075d1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256d44075d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/>
              <a:t>Exemplo de slide de transição para uma parte prática</a:t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570637374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g2570637374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5706373740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g25706373740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5706373740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g25706373740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5706373740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g25706373740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5706373740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g25706373740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5706373740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g25706373740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706373740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g25706373740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56d44075d1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g256d44075d1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1" i="1"/>
              <a:t>Adicione aqui links úteis como o Repositório no GitHub, Documentação Oficial, Referências e materiais complementares. 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570637374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g2570637374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5706373740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25706373740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5706373740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25706373740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5706373740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25706373740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5706373740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g25706373740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5706373740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25706373740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5706373740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25706373740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56d44075d1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256d44075d1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1" i="1"/>
              <a:t>Adicione aqui links úteis como o Repositório no GitHub, Documentação Oficial, Referências e materiais complementares. 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e45d81c95e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g1e45d81c95e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578db191f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2578db191f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0a825d21ad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20a825d21ad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56d44075d1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256d44075d1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1" i="1"/>
              <a:t>Adicione aqui links úteis como o Repositório no GitHub, Documentação Oficial, Referências e materiais complementares. 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e45d81c95e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g1e45d81c95e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0a825d21ad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20a825d21ad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5716d77d9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25716d77d9b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5716d77d9b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g25716d77d9b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5716d77d9b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g25716d77d9b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5716d77d9b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g25716d77d9b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56d44075d1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g256d44075d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/>
              <a:t>Exemplo de slide de transição para uma parte prática</a:t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56d44075d1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g256d44075d1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1" i="1"/>
              <a:t>Adicione aqui links úteis como o Repositório no GitHub, Documentação Oficial, Referências e materiais complementares. 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e45d81c95e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g1e45d81c95e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0a825d21ad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20a825d21ad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5716d77d9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25716d77d9b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e473528cfd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1e473528cfd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e473528cfd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g1e473528cfd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8d4b5bf2c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28d4b5bf2c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8d4b5bf2cc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28d4b5bf2cc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5716d77d9b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25716d77d9b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56d44075d1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g256d44075d1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1" i="1"/>
              <a:t>Adicione aqui links úteis como o Repositório no GitHub, Documentação Oficial, Referências e materiais complementares. 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e45d81c95e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g1e45d81c95e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e47bee9be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1e47bee9be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0a825d21ad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20a825d21ad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e47bee9be1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1e47bee9be1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e47bee9be1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g1e47bee9be1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e47bee9be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1e47bee9be1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e47bee9be1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1e47bee9be1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e47bee9be1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1e47bee9be1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e47bee9be1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g1e47bee9be1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e47bee9be1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g1e47bee9be1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e47bee9be1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g1e47bee9be1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e47bee9be1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g1e47bee9be1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56d44075d1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g256d44075d1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1" i="1"/>
              <a:t>Adicione aqui links úteis como o Repositório no GitHub, Documentação Oficial, Referências e materiais complementares. 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e45d81c95e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g1e45d81c95e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e482c76e4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1e482c76e4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e482c76e41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1e482c76e4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e482c76e41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1e482c76e41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e482c76e4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g1e482c76e4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e482c76e41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1e482c76e41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1" i="1"/>
              <a:t>Adicione aqui links úteis como o Repositório no GitHub, Documentação Oficial, Referências e materiais complementares. 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e45d81c95e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g1e45d81c95e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e480ea7c27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1e480ea7c27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e480ea7c27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1e480ea7c27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e480ea7c27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1e480ea7c27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e482c76e4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g1e482c76e4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e482c76e41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1e482c76e41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1" i="1"/>
              <a:t>Adicione aqui links úteis como o Repositório no GitHub, Documentação Oficial, Referências e materiais complementares. 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667"/>
              <a:buFont typeface="Calibri"/>
              <a:buNone/>
              <a:defRPr sz="10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267"/>
              <a:buNone/>
              <a:defRPr sz="4267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556"/>
              <a:buNone/>
              <a:defRPr sz="3556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44"/>
              <a:buNone/>
              <a:defRPr sz="2844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44"/>
              <a:buNone/>
              <a:defRPr sz="2844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44"/>
              <a:buNone/>
              <a:defRPr sz="2844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44"/>
              <a:buNone/>
              <a:defRPr sz="2844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44"/>
              <a:buNone/>
              <a:defRPr sz="2844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44"/>
              <a:buNone/>
              <a:defRPr sz="2844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667"/>
              <a:buFont typeface="Calibri"/>
              <a:buNone/>
              <a:defRPr sz="10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 sz="4267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3556"/>
              <a:buNone/>
              <a:defRPr sz="3556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844"/>
              <a:buNone/>
              <a:defRPr sz="2844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844"/>
              <a:buNone/>
              <a:defRPr sz="2844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844"/>
              <a:buNone/>
              <a:defRPr sz="2844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844"/>
              <a:buNone/>
              <a:defRPr sz="2844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844"/>
              <a:buNone/>
              <a:defRPr sz="2844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844"/>
              <a:buNone/>
              <a:defRPr sz="2844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267"/>
              <a:buNone/>
              <a:defRPr sz="4267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556"/>
              <a:buNone/>
              <a:defRPr sz="3556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44"/>
              <a:buNone/>
              <a:defRPr sz="2844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44"/>
              <a:buNone/>
              <a:defRPr sz="2844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44"/>
              <a:buNone/>
              <a:defRPr sz="2844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44"/>
              <a:buNone/>
              <a:defRPr sz="2844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44"/>
              <a:buNone/>
              <a:defRPr sz="2844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44"/>
              <a:buNone/>
              <a:defRPr sz="2844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267"/>
              <a:buNone/>
              <a:defRPr sz="4267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556"/>
              <a:buNone/>
              <a:defRPr sz="3556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44"/>
              <a:buNone/>
              <a:defRPr sz="2844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44"/>
              <a:buNone/>
              <a:defRPr sz="2844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44"/>
              <a:buNone/>
              <a:defRPr sz="2844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44"/>
              <a:buNone/>
              <a:defRPr sz="2844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44"/>
              <a:buNone/>
              <a:defRPr sz="2844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44"/>
              <a:buNone/>
              <a:defRPr sz="2844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89"/>
              <a:buFont typeface="Calibri"/>
              <a:buNone/>
              <a:defRPr sz="568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8985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689"/>
              <a:buChar char="•"/>
              <a:defRPr sz="5689"/>
            </a:lvl1pPr>
            <a:lvl2pPr marL="914400" lvl="1" indent="-54470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978"/>
              <a:buChar char="•"/>
              <a:defRPr sz="4978"/>
            </a:lvl2pPr>
            <a:lvl3pPr marL="1371600" lvl="2" indent="-49955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3pPr>
            <a:lvl4pPr marL="1828800" lvl="3" indent="-45440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556"/>
              <a:buChar char="•"/>
              <a:defRPr sz="3556"/>
            </a:lvl4pPr>
            <a:lvl5pPr marL="2286000" lvl="4" indent="-45440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556"/>
              <a:buChar char="•"/>
              <a:defRPr sz="3556"/>
            </a:lvl5pPr>
            <a:lvl6pPr marL="2743200" lvl="5" indent="-45440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556"/>
              <a:buChar char="•"/>
              <a:defRPr sz="3556"/>
            </a:lvl6pPr>
            <a:lvl7pPr marL="3200400" lvl="6" indent="-45440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556"/>
              <a:buChar char="•"/>
              <a:defRPr sz="3556"/>
            </a:lvl7pPr>
            <a:lvl8pPr marL="3657600" lvl="7" indent="-45440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556"/>
              <a:buChar char="•"/>
              <a:defRPr sz="3556"/>
            </a:lvl8pPr>
            <a:lvl9pPr marL="4114800" lvl="8" indent="-45440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556"/>
              <a:buChar char="•"/>
              <a:defRPr sz="3556"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44"/>
              <a:buNone/>
              <a:defRPr sz="2844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89"/>
              <a:buNone/>
              <a:defRPr sz="2489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sz="1778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sz="1778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sz="1778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sz="1778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sz="1778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sz="1778"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89"/>
              <a:buFont typeface="Calibri"/>
              <a:buNone/>
              <a:defRPr sz="568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1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1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44"/>
              <a:buNone/>
              <a:defRPr sz="2844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89"/>
              <a:buNone/>
              <a:defRPr sz="2489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sz="1778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sz="1778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sz="1778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sz="1778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sz="1778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sz="1778"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ucidchart.com/pages/pt/o-que-e-diagrama-entidade-relacionamento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clients.cloudclusters.io/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mariadb.com/kb/en/data-types/" TargetMode="External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hyperlink" Target="https://mariadb.com/kb/en/create-table/" TargetMode="Externa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hyperlink" Target="https://mariadb.com/kb/en/data-types/" TargetMode="External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hyperlink" Target="https://mariadb.com/kb/en/create-table/" TargetMode="Externa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hyperlink" Target="https://mariadb.com/kb/en/data-types/" TargetMode="External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hyperlink" Target="https://mariadb.com/kb/en/create-table/" TargetMode="Externa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hyperlink" Target="https://pt.wikipedia.org/wiki/Normaliza%C3%A7%C3%A3o_de_dados" TargetMode="External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hyperlink" Target="https://pt.wikipedia.org/wiki/Normaliza%C3%A7%C3%A3o_de_dados" TargetMode="External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hyperlink" Target="https://mariadb.com/kb/en/aggregate-functions/" TargetMode="External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dio.me/articles%E2%80%8B" TargetMode="External"/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Pâmela Apolinário Borges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Engenheira de Software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pamelaapborges - Linkedin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565525" y="636550"/>
            <a:ext cx="7980617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Introdução a Banco de Dados Relacionais</a:t>
            </a:r>
            <a:endParaRPr/>
          </a:p>
        </p:txBody>
      </p:sp>
      <p:pic>
        <p:nvPicPr>
          <p:cNvPr id="88" name="Google Shape;8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/>
        </p:nvSpPr>
        <p:spPr>
          <a:xfrm>
            <a:off x="565525" y="1760678"/>
            <a:ext cx="7984500" cy="26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objetivo geral do curso é fornecer uma introdução aos Bancos de Dados Relacionais e desenvolver habilidades na criação, modelagem e consulta desses bancos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" name="Google Shape;96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/>
          </a:p>
        </p:txBody>
      </p:sp>
      <p:pic>
        <p:nvPicPr>
          <p:cNvPr id="97" name="Google Shape;9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/>
        </p:nvSpPr>
        <p:spPr>
          <a:xfrm>
            <a:off x="565525" y="1599663"/>
            <a:ext cx="7984551" cy="2199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191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Noto Sans Symbols"/>
              <a:buChar char="✔"/>
            </a:pPr>
            <a:r>
              <a:rPr lang="en-US" sz="28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Computador com acesso a internet</a:t>
            </a:r>
            <a:endParaRPr sz="28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19100" marR="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800"/>
              <a:buFont typeface="Calibri"/>
              <a:buChar char="✔"/>
            </a:pPr>
            <a:r>
              <a:rPr lang="en-US" sz="28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Vontade de aprender </a:t>
            </a:r>
            <a:endParaRPr sz="28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191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/>
          </a:p>
        </p:txBody>
      </p:sp>
      <p:pic>
        <p:nvPicPr>
          <p:cNvPr id="105" name="Google Shape;10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Conteúdo Programático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569818" y="1477555"/>
            <a:ext cx="7867233" cy="3297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❑"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Introdução aos Bancos de Dados Relacionais e conceitos básicos de SQL.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❑"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Modelagem de tabelas, colunas e registros com operações CRUD.</a:t>
            </a:r>
            <a:endParaRPr sz="2400" b="1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❑"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Chaves primárias e estrangeiras com modelagem de tabelas relacionadas.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/>
          </a:p>
        </p:txBody>
      </p:sp>
      <p:pic>
        <p:nvPicPr>
          <p:cNvPr id="113" name="Google Shape;113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Conteúdo Programático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569818" y="1477555"/>
            <a:ext cx="7867200" cy="32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❑"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Normalização de dados, identificando e corrigindo problemas de normalização.</a:t>
            </a:r>
            <a:endParaRPr sz="2400" b="1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❑"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Consultas avançadas com junções e subconsultas.</a:t>
            </a:r>
            <a:endParaRPr sz="2400" b="1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❑"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Funções agregadas e agrupamento de resultados com GROUP BY e HAVING.</a:t>
            </a:r>
            <a:endParaRPr sz="2400" b="1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❑"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Uso de índices para otimização de consultas.</a:t>
            </a:r>
            <a:endParaRPr sz="2400" b="1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</a:t>
            </a:fld>
            <a:r>
              <a:rPr lang="en-US"/>
              <a:t>]</a:t>
            </a:r>
            <a:endParaRPr/>
          </a:p>
        </p:txBody>
      </p:sp>
      <p:pic>
        <p:nvPicPr>
          <p:cNvPr id="121" name="Google Shape;121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/>
          <p:nvPr/>
        </p:nvSpPr>
        <p:spPr>
          <a:xfrm>
            <a:off x="565525" y="3874338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Introdução aos Bancos de Dados Relacionais</a:t>
            </a:r>
            <a:endParaRPr sz="2400" b="0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524525" y="10068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Conceitos Básico e Estrutura do Banco de dados Relacional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</a:t>
            </a:fld>
            <a:r>
              <a:rPr lang="en-US"/>
              <a:t>]</a:t>
            </a:r>
            <a:endParaRPr/>
          </a:p>
        </p:txBody>
      </p:sp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94292" y="161566"/>
            <a:ext cx="651673" cy="2714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29529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Conteúdo…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é um Banco de Dados?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" name="Google Shape;96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</a:t>
            </a:fld>
            <a:r>
              <a:rPr lang="en-US"/>
              <a:t>]</a:t>
            </a:r>
            <a:endParaRPr/>
          </a:p>
        </p:txBody>
      </p:sp>
      <p:pic>
        <p:nvPicPr>
          <p:cNvPr id="97" name="Google Shape;9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527" y="1574262"/>
            <a:ext cx="3122175" cy="16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80674" y="3443299"/>
            <a:ext cx="2315050" cy="154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48980" y="1467525"/>
            <a:ext cx="2802195" cy="18690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08224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Relacionais/SQL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Não Relacionais/NoSQL (Not OnlySQL)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Orientado a Objetos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Hierárquico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Tipos de Banco de Dados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7" name="Google Shape;107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</a:t>
            </a:fld>
            <a:r>
              <a:rPr lang="en-US"/>
              <a:t>]</a:t>
            </a:r>
            <a:endParaRPr/>
          </a:p>
        </p:txBody>
      </p:sp>
      <p:pic>
        <p:nvPicPr>
          <p:cNvPr id="108" name="Google Shape;108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60674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SGBD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4" name="Google Shape;114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</a:t>
            </a:fld>
            <a:r>
              <a:rPr lang="en-US"/>
              <a:t>]</a:t>
            </a:r>
            <a:endParaRPr/>
          </a:p>
        </p:txBody>
      </p:sp>
      <p:pic>
        <p:nvPicPr>
          <p:cNvPr id="115" name="Google Shape;115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0975" y="1748650"/>
            <a:ext cx="1276350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21523" y="1760900"/>
            <a:ext cx="1608302" cy="109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86425" y="1355223"/>
            <a:ext cx="1910775" cy="191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6175" y="3221088"/>
            <a:ext cx="1978362" cy="1978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415400" y="3556808"/>
            <a:ext cx="1608300" cy="1608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125800" y="1445425"/>
            <a:ext cx="1865800" cy="1865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66535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Funcionalidades básicas: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C </a:t>
            </a:r>
            <a:r>
              <a:rPr lang="en-US" sz="31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reate</a:t>
            </a:r>
            <a:endParaRPr sz="3100" b="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 </a:t>
            </a:r>
            <a:r>
              <a:rPr lang="en-US" sz="30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ead</a:t>
            </a:r>
            <a:endParaRPr sz="39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U </a:t>
            </a:r>
            <a:r>
              <a:rPr lang="en-US" sz="31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pdate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D </a:t>
            </a:r>
            <a:r>
              <a:rPr lang="en-US" sz="31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elete</a:t>
            </a:r>
            <a:endParaRPr sz="400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8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SGBD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8" name="Google Shape;128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</a:t>
            </a:fld>
            <a:r>
              <a:rPr lang="en-US"/>
              <a:t>]</a:t>
            </a:r>
            <a:endParaRPr/>
          </a:p>
        </p:txBody>
      </p:sp>
      <p:pic>
        <p:nvPicPr>
          <p:cNvPr id="129" name="Google Shape;129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41829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/>
          <p:nvPr/>
        </p:nvSpPr>
        <p:spPr>
          <a:xfrm>
            <a:off x="565525" y="14454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endParaRPr sz="400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9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Estrutura de um BD Relacional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6" name="Google Shape;136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</a:t>
            </a:fld>
            <a:r>
              <a:rPr lang="en-US"/>
              <a:t>]</a:t>
            </a:r>
            <a:endParaRPr/>
          </a:p>
        </p:txBody>
      </p:sp>
      <p:pic>
        <p:nvPicPr>
          <p:cNvPr id="137" name="Google Shape;13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9"/>
          <p:cNvSpPr/>
          <p:nvPr/>
        </p:nvSpPr>
        <p:spPr>
          <a:xfrm>
            <a:off x="1098725" y="1661625"/>
            <a:ext cx="6785700" cy="3038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9"/>
          <p:cNvSpPr txBox="1"/>
          <p:nvPr/>
        </p:nvSpPr>
        <p:spPr>
          <a:xfrm>
            <a:off x="1069625" y="4746550"/>
            <a:ext cx="2163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Banco de Dados |Database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1267400" y="1883225"/>
            <a:ext cx="3304500" cy="2143200"/>
          </a:xfrm>
          <a:prstGeom prst="rect">
            <a:avLst/>
          </a:prstGeom>
          <a:solidFill>
            <a:srgbClr val="FFE5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9"/>
          <p:cNvSpPr txBox="1"/>
          <p:nvPr/>
        </p:nvSpPr>
        <p:spPr>
          <a:xfrm>
            <a:off x="1267400" y="4114175"/>
            <a:ext cx="1411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Tabela | Table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1545725" y="2237238"/>
            <a:ext cx="1209000" cy="1052700"/>
          </a:xfrm>
          <a:prstGeom prst="rect">
            <a:avLst/>
          </a:prstGeom>
          <a:solidFill>
            <a:srgbClr val="EA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9"/>
          <p:cNvSpPr txBox="1"/>
          <p:nvPr/>
        </p:nvSpPr>
        <p:spPr>
          <a:xfrm>
            <a:off x="1545725" y="3285525"/>
            <a:ext cx="1411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Coluna | Column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3065600" y="2237238"/>
            <a:ext cx="1209000" cy="1052700"/>
          </a:xfrm>
          <a:prstGeom prst="rect">
            <a:avLst/>
          </a:prstGeom>
          <a:solidFill>
            <a:srgbClr val="EA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9"/>
          <p:cNvSpPr txBox="1"/>
          <p:nvPr/>
        </p:nvSpPr>
        <p:spPr>
          <a:xfrm>
            <a:off x="1512825" y="1883225"/>
            <a:ext cx="124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Nome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9"/>
          <p:cNvSpPr txBox="1"/>
          <p:nvPr/>
        </p:nvSpPr>
        <p:spPr>
          <a:xfrm>
            <a:off x="3049100" y="1883225"/>
            <a:ext cx="124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Idade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9"/>
          <p:cNvSpPr txBox="1"/>
          <p:nvPr/>
        </p:nvSpPr>
        <p:spPr>
          <a:xfrm>
            <a:off x="1530275" y="2283425"/>
            <a:ext cx="1242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Pâmela</a:t>
            </a:r>
            <a:endParaRPr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João</a:t>
            </a:r>
            <a:endParaRPr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9"/>
          <p:cNvSpPr txBox="1"/>
          <p:nvPr/>
        </p:nvSpPr>
        <p:spPr>
          <a:xfrm>
            <a:off x="3065600" y="2273350"/>
            <a:ext cx="1242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/>
          <p:cNvSpPr txBox="1"/>
          <p:nvPr/>
        </p:nvSpPr>
        <p:spPr>
          <a:xfrm>
            <a:off x="0" y="2371650"/>
            <a:ext cx="12090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Tupla | Tuple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Linhas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Registros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>
            <a:off x="843225" y="2872600"/>
            <a:ext cx="892200" cy="21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1" name="Google Shape;151;p19"/>
          <p:cNvSpPr/>
          <p:nvPr/>
        </p:nvSpPr>
        <p:spPr>
          <a:xfrm>
            <a:off x="5985700" y="1883150"/>
            <a:ext cx="1718400" cy="2143200"/>
          </a:xfrm>
          <a:prstGeom prst="rect">
            <a:avLst/>
          </a:prstGeom>
          <a:solidFill>
            <a:srgbClr val="FFE5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52" name="Google Shape;152;p19"/>
          <p:cNvCxnSpPr>
            <a:stCxn id="140" idx="3"/>
          </p:cNvCxnSpPr>
          <p:nvPr/>
        </p:nvCxnSpPr>
        <p:spPr>
          <a:xfrm rot="10800000" flipH="1">
            <a:off x="4571900" y="2408825"/>
            <a:ext cx="1425600" cy="5460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3" name="Google Shape;153;p19"/>
          <p:cNvSpPr txBox="1"/>
          <p:nvPr/>
        </p:nvSpPr>
        <p:spPr>
          <a:xfrm>
            <a:off x="4600925" y="1975025"/>
            <a:ext cx="1411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Relacionamentos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>
            <a:off x="4546700" y="3026325"/>
            <a:ext cx="1411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Chaves Primarias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Chaves Estrangeiras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19"/>
          <p:cNvCxnSpPr/>
          <p:nvPr/>
        </p:nvCxnSpPr>
        <p:spPr>
          <a:xfrm>
            <a:off x="4811375" y="2301100"/>
            <a:ext cx="366600" cy="442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181117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Relacionamento entre tabelas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Linguagem de Consulta Estruturada (SQL)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Integridade referencial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Normalização de dados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Segurança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Flexibilidade e extensibilidade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Suporte a transações ACID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0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Características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2" name="Google Shape;162;p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</a:t>
            </a:fld>
            <a:r>
              <a:rPr lang="en-US"/>
              <a:t>]</a:t>
            </a:r>
            <a:endParaRPr/>
          </a:p>
        </p:txBody>
      </p:sp>
      <p:pic>
        <p:nvPicPr>
          <p:cNvPr id="163" name="Google Shape;163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766202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r>
              <a:rPr lang="en-US" sz="40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tomicidade</a:t>
            </a:r>
            <a:endParaRPr sz="3100" b="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</a:t>
            </a:r>
            <a:r>
              <a:rPr lang="en-US" sz="4000" b="1">
                <a:latin typeface="Century Gothic"/>
                <a:ea typeface="Century Gothic"/>
                <a:cs typeface="Century Gothic"/>
                <a:sym typeface="Century Gothic"/>
              </a:rPr>
              <a:t>onsistência</a:t>
            </a:r>
            <a:endParaRPr sz="3900" b="1"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</a:t>
            </a:r>
            <a:r>
              <a:rPr lang="en-US" sz="4000" b="1">
                <a:solidFill>
                  <a:srgbClr val="27282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solamento</a:t>
            </a:r>
            <a:endParaRPr sz="4000" b="1">
              <a:solidFill>
                <a:srgbClr val="27282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</a:t>
            </a:r>
            <a:r>
              <a:rPr lang="en-US" sz="4000" b="1">
                <a:solidFill>
                  <a:srgbClr val="040A24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urabilidade</a:t>
            </a:r>
            <a:endParaRPr sz="4000">
              <a:solidFill>
                <a:srgbClr val="040A2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1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ACID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0" name="Google Shape;170;p2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13</a:t>
            </a:fld>
            <a:r>
              <a:rPr lang="en-US"/>
              <a:t>]</a:t>
            </a:r>
            <a:endParaRPr/>
          </a:p>
        </p:txBody>
      </p:sp>
      <p:pic>
        <p:nvPicPr>
          <p:cNvPr id="171" name="Google Shape;171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341854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 b="1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Referências: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https://www.oracle.com/br/database/what-is-a-relational-database/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16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2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8" name="Google Shape;178;p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14</a:t>
            </a:fld>
            <a:r>
              <a:rPr lang="en-US"/>
              <a:t>]</a:t>
            </a:r>
            <a:endParaRPr/>
          </a:p>
        </p:txBody>
      </p:sp>
      <p:pic>
        <p:nvPicPr>
          <p:cNvPr id="179" name="Google Shape;179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662715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/>
          <p:nvPr/>
        </p:nvSpPr>
        <p:spPr>
          <a:xfrm>
            <a:off x="565525" y="3874338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Introdução aos Bancos de Dados Relacionais</a:t>
            </a:r>
            <a:endParaRPr sz="2400" b="0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524525" y="10068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Introdução e Conceitos Básicos de SQL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15</a:t>
            </a:fld>
            <a:r>
              <a:rPr lang="en-US"/>
              <a:t>]</a:t>
            </a:r>
            <a:endParaRPr/>
          </a:p>
        </p:txBody>
      </p:sp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94292" y="161566"/>
            <a:ext cx="651673" cy="2714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618052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SQL - Structured Query Language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5" name="Google Shape;95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16</a:t>
            </a:fld>
            <a:r>
              <a:rPr lang="en-US"/>
              <a:t>]</a:t>
            </a:r>
            <a:endParaRPr/>
          </a:p>
        </p:txBody>
      </p:sp>
      <p:pic>
        <p:nvPicPr>
          <p:cNvPr id="96" name="Google Shape;96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3700" y="1481050"/>
            <a:ext cx="5783512" cy="33576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102287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/>
        </p:nvSpPr>
        <p:spPr>
          <a:xfrm>
            <a:off x="565525" y="741800"/>
            <a:ext cx="8016900" cy="4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DQL - Linguagem de Consulta de Dados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SELECT;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DML - Linguagem de Manipulação de Dados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INSERT, UPDATE e DELETE;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DDL - Linguagem de Definição de Dados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CREATE, ALTER, DROP;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Organização da SQL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17</a:t>
            </a:fld>
            <a:r>
              <a:rPr lang="en-US"/>
              <a:t>]</a:t>
            </a:r>
            <a:endParaRPr/>
          </a:p>
        </p:txBody>
      </p:sp>
      <p:pic>
        <p:nvPicPr>
          <p:cNvPr id="105" name="Google Shape;10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699432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/>
        </p:nvSpPr>
        <p:spPr>
          <a:xfrm>
            <a:off x="565525" y="741800"/>
            <a:ext cx="8016900" cy="4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DCL - Linguagem de Controle de Dados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GRANT, REVOKE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DTL - Linguagem de Transação de Dados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BEGIN, COMMIT, ROLLBACK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Organização da SQL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" name="Google Shape;112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18</a:t>
            </a:fld>
            <a:r>
              <a:rPr lang="en-US"/>
              <a:t>]</a:t>
            </a:r>
            <a:endParaRPr/>
          </a:p>
        </p:txBody>
      </p:sp>
      <p:pic>
        <p:nvPicPr>
          <p:cNvPr id="113" name="Google Shape;113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173315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/>
        </p:nvSpPr>
        <p:spPr>
          <a:xfrm>
            <a:off x="3250025" y="885250"/>
            <a:ext cx="5332500" cy="38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nomes devem começar com uma letra ou com um caractere de sublinhado (_)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*** Os nomes podem conter letras, números e caracteres de sublinhado (_).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Sensibilidade a maiúsculas e minúsculas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360600" y="2254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Sintaxe Basíca: Nomenclatura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0" name="Google Shape;120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19</a:t>
            </a:fld>
            <a:r>
              <a:rPr lang="en-US"/>
              <a:t>]</a:t>
            </a:r>
            <a:endParaRPr/>
          </a:p>
        </p:txBody>
      </p:sp>
      <p:pic>
        <p:nvPicPr>
          <p:cNvPr id="121" name="Google Shape;121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600" y="1528672"/>
            <a:ext cx="2832700" cy="27406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99234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 b="1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Referências: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https://www.sqltutorial.org/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16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9" name="Google Shape;129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20</a:t>
            </a:fld>
            <a:r>
              <a:rPr lang="en-US"/>
              <a:t>]</a:t>
            </a:r>
            <a:endParaRPr/>
          </a:p>
        </p:txBody>
      </p:sp>
      <p:pic>
        <p:nvPicPr>
          <p:cNvPr id="130" name="Google Shape;130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98015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/>
          <p:nvPr/>
        </p:nvSpPr>
        <p:spPr>
          <a:xfrm>
            <a:off x="565525" y="3874338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Introdução aos Bancos de Dados Relacionais</a:t>
            </a:r>
            <a:endParaRPr sz="2400" b="0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524525" y="10068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MER e DER: Modelagem de Bancos de Dados	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21</a:t>
            </a:fld>
            <a:r>
              <a:rPr lang="en-US"/>
              <a:t>]</a:t>
            </a:r>
            <a:endParaRPr/>
          </a:p>
        </p:txBody>
      </p:sp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94292" y="161566"/>
            <a:ext cx="651673" cy="2714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16417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/>
        </p:nvSpPr>
        <p:spPr>
          <a:xfrm>
            <a:off x="463075" y="1069650"/>
            <a:ext cx="8016900" cy="4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Modelo Entidade-Relacionamento (MER) é representado através de diagramas chamados Diagramas Entidade-Relacionamento (DER).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https://app.creately.com/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565525" y="8686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MER e DER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" name="Google Shape;96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22</a:t>
            </a:fld>
            <a:r>
              <a:rPr lang="en-US"/>
              <a:t>]</a:t>
            </a:r>
            <a:endParaRPr/>
          </a:p>
        </p:txBody>
      </p:sp>
      <p:pic>
        <p:nvPicPr>
          <p:cNvPr id="97" name="Google Shape;9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121982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/>
        </p:nvSpPr>
        <p:spPr>
          <a:xfrm>
            <a:off x="565525" y="741800"/>
            <a:ext cx="8016900" cy="18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entidades são nomeadas com substantivos concretos ou abstratos que representem de forma clara sua função dentro do domínio.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Entidades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23</a:t>
            </a:fld>
            <a:r>
              <a:rPr lang="en-US"/>
              <a:t>]</a:t>
            </a:r>
            <a:endParaRPr/>
          </a:p>
        </p:txBody>
      </p:sp>
      <p:pic>
        <p:nvPicPr>
          <p:cNvPr id="105" name="Google Shape;10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5300" y="2662500"/>
            <a:ext cx="4877802" cy="2252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341302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/>
        </p:nvSpPr>
        <p:spPr>
          <a:xfrm>
            <a:off x="565525" y="741800"/>
            <a:ext cx="8016900" cy="4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atributos são as características ou propriedades das entidades. Eles descrevem informações específicas sobre uma entidade.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7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Atributos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" name="Google Shape;113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24</a:t>
            </a:fld>
            <a:r>
              <a:rPr lang="en-US"/>
              <a:t>]</a:t>
            </a:r>
            <a:endParaRPr/>
          </a:p>
        </p:txBody>
      </p:sp>
      <p:pic>
        <p:nvPicPr>
          <p:cNvPr id="114" name="Google Shape;114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9150" y="2571750"/>
            <a:ext cx="4954700" cy="2288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76412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Relacionamentos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" name="Google Shape;121;p18"/>
          <p:cNvSpPr txBox="1"/>
          <p:nvPr/>
        </p:nvSpPr>
        <p:spPr>
          <a:xfrm>
            <a:off x="565525" y="662925"/>
            <a:ext cx="8016900" cy="16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relacionamentos representam as associações entre entidades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25</a:t>
            </a:fld>
            <a:r>
              <a:rPr lang="en-US"/>
              <a:t>]</a:t>
            </a:r>
            <a:endParaRPr/>
          </a:p>
        </p:txBody>
      </p:sp>
      <p:pic>
        <p:nvPicPr>
          <p:cNvPr id="123" name="Google Shape;123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5900" y="2352225"/>
            <a:ext cx="4915400" cy="27042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126852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/>
        </p:nvSpPr>
        <p:spPr>
          <a:xfrm>
            <a:off x="565525" y="741800"/>
            <a:ext cx="8016900" cy="4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Cardinalidade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1" name="Google Shape;131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26</a:t>
            </a:fld>
            <a:r>
              <a:rPr lang="en-US"/>
              <a:t>]</a:t>
            </a:r>
            <a:endParaRPr/>
          </a:p>
        </p:txBody>
      </p:sp>
      <p:pic>
        <p:nvPicPr>
          <p:cNvPr id="132" name="Google Shape;132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9"/>
          <p:cNvSpPr txBox="1"/>
          <p:nvPr/>
        </p:nvSpPr>
        <p:spPr>
          <a:xfrm>
            <a:off x="1007500" y="686525"/>
            <a:ext cx="6867000" cy="14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Relacionamento 1..1 (um para um)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Relacionamento 1..n ou 1..* (um para muitos)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Relacionamento n..n ou *..* (muitos para muitos)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625" y="2625875"/>
            <a:ext cx="3830901" cy="24539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480567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Criando diagramas com IA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0" name="Google Shape;140;p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27</a:t>
            </a:fld>
            <a:r>
              <a:rPr lang="en-US"/>
              <a:t>]</a:t>
            </a:r>
            <a:endParaRPr/>
          </a:p>
        </p:txBody>
      </p:sp>
      <p:pic>
        <p:nvPicPr>
          <p:cNvPr id="141" name="Google Shape;141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0"/>
          <p:cNvSpPr txBox="1"/>
          <p:nvPr/>
        </p:nvSpPr>
        <p:spPr>
          <a:xfrm>
            <a:off x="1007500" y="686525"/>
            <a:ext cx="6867000" cy="14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https://app.quickdatabasediagrams.com/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548054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 b="1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Referências: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https://www.lucidchart.com/pages/pt/o-que-e-diagrama-entidade-relacionamento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https://app.creately.com/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16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1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9" name="Google Shape;149;p2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28</a:t>
            </a:fld>
            <a:r>
              <a:rPr lang="en-US"/>
              <a:t>]</a:t>
            </a:r>
            <a:endParaRPr/>
          </a:p>
        </p:txBody>
      </p:sp>
      <p:pic>
        <p:nvPicPr>
          <p:cNvPr id="150" name="Google Shape;150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01863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/>
          <p:nvPr/>
        </p:nvSpPr>
        <p:spPr>
          <a:xfrm>
            <a:off x="565525" y="3874338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Introdução aos Bancos de Dados Relacionais</a:t>
            </a:r>
            <a:endParaRPr sz="2400" b="0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524525" y="10068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Configuração do </a:t>
            </a:r>
            <a:b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Ambiente	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29</a:t>
            </a:fld>
            <a:r>
              <a:rPr lang="en-US"/>
              <a:t>]</a:t>
            </a:r>
            <a:endParaRPr/>
          </a:p>
        </p:txBody>
      </p:sp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94292" y="161566"/>
            <a:ext cx="651673" cy="2714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862811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/>
        </p:nvSpPr>
        <p:spPr>
          <a:xfrm>
            <a:off x="463075" y="1069650"/>
            <a:ext cx="8016900" cy="4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https://app.creately.com/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565525" y="8686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Diagramas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" name="Google Shape;96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30</a:t>
            </a:fld>
            <a:r>
              <a:rPr lang="en-US"/>
              <a:t>]</a:t>
            </a:r>
            <a:endParaRPr/>
          </a:p>
        </p:txBody>
      </p:sp>
      <p:pic>
        <p:nvPicPr>
          <p:cNvPr id="97" name="Google Shape;9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376851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/>
        </p:nvSpPr>
        <p:spPr>
          <a:xfrm>
            <a:off x="565525" y="741800"/>
            <a:ext cx="8016900" cy="18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Acessar a url: </a:t>
            </a:r>
            <a:r>
              <a:rPr lang="en-US" sz="2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https://clients.cloudclusters.io/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criar conta.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Banco de Dados	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31</a:t>
            </a:fld>
            <a:r>
              <a:rPr lang="en-US"/>
              <a:t>]</a:t>
            </a:r>
            <a:endParaRPr/>
          </a:p>
        </p:txBody>
      </p:sp>
      <p:pic>
        <p:nvPicPr>
          <p:cNvPr id="105" name="Google Shape;105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15275" y="1960900"/>
            <a:ext cx="4341824" cy="27269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275733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/>
        </p:nvSpPr>
        <p:spPr>
          <a:xfrm>
            <a:off x="565525" y="741800"/>
            <a:ext cx="8016900" cy="18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 startAt="2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Selecionar opção “New Application”.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7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Banco de Dados	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" name="Google Shape;113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32</a:t>
            </a:fld>
            <a:r>
              <a:rPr lang="en-US"/>
              <a:t>]</a:t>
            </a:r>
            <a:endParaRPr/>
          </a:p>
        </p:txBody>
      </p:sp>
      <p:pic>
        <p:nvPicPr>
          <p:cNvPr id="114" name="Google Shape;114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2425" y="2133800"/>
            <a:ext cx="3989595" cy="2252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6" name="Google Shape;116;p17"/>
          <p:cNvCxnSpPr/>
          <p:nvPr/>
        </p:nvCxnSpPr>
        <p:spPr>
          <a:xfrm>
            <a:off x="1590175" y="2422150"/>
            <a:ext cx="1332000" cy="1168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8683248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Banco de Dados	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2" name="Google Shape;122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33</a:t>
            </a:fld>
            <a:r>
              <a:rPr lang="en-US"/>
              <a:t>]</a:t>
            </a:r>
            <a:endParaRPr/>
          </a:p>
        </p:txBody>
      </p:sp>
      <p:pic>
        <p:nvPicPr>
          <p:cNvPr id="123" name="Google Shape;123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80750" y="2032800"/>
            <a:ext cx="4441205" cy="281075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8"/>
          <p:cNvSpPr txBox="1"/>
          <p:nvPr/>
        </p:nvSpPr>
        <p:spPr>
          <a:xfrm>
            <a:off x="565525" y="741800"/>
            <a:ext cx="8016900" cy="18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 startAt="3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Buscar MariaDB e selecionar a opção Deploy Now.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18"/>
          <p:cNvCxnSpPr/>
          <p:nvPr/>
        </p:nvCxnSpPr>
        <p:spPr>
          <a:xfrm>
            <a:off x="903700" y="2094275"/>
            <a:ext cx="2612700" cy="39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7" name="Google Shape;127;p18"/>
          <p:cNvCxnSpPr/>
          <p:nvPr/>
        </p:nvCxnSpPr>
        <p:spPr>
          <a:xfrm>
            <a:off x="791000" y="3016425"/>
            <a:ext cx="1813500" cy="154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1485310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Banco de Dados	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3" name="Google Shape;133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34</a:t>
            </a:fld>
            <a:r>
              <a:rPr lang="en-US"/>
              <a:t>]</a:t>
            </a:r>
            <a:endParaRPr/>
          </a:p>
        </p:txBody>
      </p:sp>
      <p:pic>
        <p:nvPicPr>
          <p:cNvPr id="134" name="Google Shape;134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9"/>
          <p:cNvSpPr txBox="1"/>
          <p:nvPr/>
        </p:nvSpPr>
        <p:spPr>
          <a:xfrm>
            <a:off x="565525" y="741800"/>
            <a:ext cx="8016900" cy="18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 startAt="4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Não alterar nada e selecionar a opção Free Trial Now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Google Shape;13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55300" y="2041575"/>
            <a:ext cx="4146524" cy="27678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7" name="Google Shape;137;p19"/>
          <p:cNvCxnSpPr/>
          <p:nvPr/>
        </p:nvCxnSpPr>
        <p:spPr>
          <a:xfrm>
            <a:off x="1170100" y="3631200"/>
            <a:ext cx="1383300" cy="983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4609397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Banco de Dados	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3" name="Google Shape;143;p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35</a:t>
            </a:fld>
            <a:r>
              <a:rPr lang="en-US"/>
              <a:t>]</a:t>
            </a:r>
            <a:endParaRPr/>
          </a:p>
        </p:txBody>
      </p:sp>
      <p:pic>
        <p:nvPicPr>
          <p:cNvPr id="144" name="Google Shape;144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0"/>
          <p:cNvSpPr txBox="1"/>
          <p:nvPr/>
        </p:nvSpPr>
        <p:spPr>
          <a:xfrm>
            <a:off x="565525" y="741800"/>
            <a:ext cx="8016900" cy="18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 startAt="5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Após finalizado o deploy será apresentado a opção “Manage”.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95125" y="2215750"/>
            <a:ext cx="2792945" cy="2252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7" name="Google Shape;147;p20"/>
          <p:cNvCxnSpPr/>
          <p:nvPr/>
        </p:nvCxnSpPr>
        <p:spPr>
          <a:xfrm>
            <a:off x="1170100" y="3631200"/>
            <a:ext cx="2510400" cy="52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3953147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Banco de Dados	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3" name="Google Shape;153;p2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36</a:t>
            </a:fld>
            <a:r>
              <a:rPr lang="en-US"/>
              <a:t>]</a:t>
            </a:r>
            <a:endParaRPr/>
          </a:p>
        </p:txBody>
      </p:sp>
      <p:pic>
        <p:nvPicPr>
          <p:cNvPr id="154" name="Google Shape;154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1"/>
          <p:cNvSpPr txBox="1"/>
          <p:nvPr/>
        </p:nvSpPr>
        <p:spPr>
          <a:xfrm>
            <a:off x="565525" y="741800"/>
            <a:ext cx="8016900" cy="18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 startAt="6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Configurar Banco de Dados e Usuários, selecionando a opção DB&amp;User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3250" y="2113300"/>
            <a:ext cx="3097625" cy="2856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21"/>
          <p:cNvCxnSpPr/>
          <p:nvPr/>
        </p:nvCxnSpPr>
        <p:spPr>
          <a:xfrm rot="10800000" flipH="1">
            <a:off x="1989775" y="2965125"/>
            <a:ext cx="1239900" cy="450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5487628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Banco de Dados	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3" name="Google Shape;163;p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37</a:t>
            </a:fld>
            <a:r>
              <a:rPr lang="en-US"/>
              <a:t>]</a:t>
            </a:r>
            <a:endParaRPr/>
          </a:p>
        </p:txBody>
      </p:sp>
      <p:pic>
        <p:nvPicPr>
          <p:cNvPr id="164" name="Google Shape;164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2"/>
          <p:cNvSpPr txBox="1"/>
          <p:nvPr/>
        </p:nvSpPr>
        <p:spPr>
          <a:xfrm>
            <a:off x="565525" y="741800"/>
            <a:ext cx="8016900" cy="18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 startAt="7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Crie o Banco clicando em “Create Database” adicione o nome “viagens” e seleciona o utf8mb4 em Character Set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36550" y="2164375"/>
            <a:ext cx="4670899" cy="22527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7" name="Google Shape;167;p22"/>
          <p:cNvCxnSpPr/>
          <p:nvPr/>
        </p:nvCxnSpPr>
        <p:spPr>
          <a:xfrm>
            <a:off x="1399025" y="3393625"/>
            <a:ext cx="1050300" cy="51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8" name="Google Shape;168;p22"/>
          <p:cNvCxnSpPr/>
          <p:nvPr/>
        </p:nvCxnSpPr>
        <p:spPr>
          <a:xfrm flipH="1">
            <a:off x="4236200" y="2776400"/>
            <a:ext cx="4277100" cy="55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9" name="Google Shape;169;p22"/>
          <p:cNvCxnSpPr/>
          <p:nvPr/>
        </p:nvCxnSpPr>
        <p:spPr>
          <a:xfrm flipH="1">
            <a:off x="6466800" y="4129950"/>
            <a:ext cx="1970700" cy="3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9575862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Banco de Dados	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5" name="Google Shape;175;p2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38</a:t>
            </a:fld>
            <a:r>
              <a:rPr lang="en-US"/>
              <a:t>]</a:t>
            </a:r>
            <a:endParaRPr/>
          </a:p>
        </p:txBody>
      </p:sp>
      <p:pic>
        <p:nvPicPr>
          <p:cNvPr id="176" name="Google Shape;17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3"/>
          <p:cNvSpPr txBox="1"/>
          <p:nvPr/>
        </p:nvSpPr>
        <p:spPr>
          <a:xfrm>
            <a:off x="565525" y="741800"/>
            <a:ext cx="8016900" cy="18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 startAt="8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Crie um usuário clicando em “Create User”, adicionando os dados abaixo, e a senha coloque uma de sua opção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0800" y="2279300"/>
            <a:ext cx="3459374" cy="2524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702981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4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PhpMyAdmin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4" name="Google Shape;184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39</a:t>
            </a:fld>
            <a:r>
              <a:rPr lang="en-US"/>
              <a:t>]</a:t>
            </a:r>
            <a:endParaRPr/>
          </a:p>
        </p:txBody>
      </p:sp>
      <p:pic>
        <p:nvPicPr>
          <p:cNvPr id="185" name="Google Shape;185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4"/>
          <p:cNvSpPr txBox="1"/>
          <p:nvPr/>
        </p:nvSpPr>
        <p:spPr>
          <a:xfrm>
            <a:off x="565525" y="741800"/>
            <a:ext cx="8016900" cy="18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menu esquerdo selecione a opção “phpMyAdmin” e seleciona a opção “Launch”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42925" y="2359300"/>
            <a:ext cx="4311330" cy="2252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8" name="Google Shape;188;p24"/>
          <p:cNvCxnSpPr/>
          <p:nvPr/>
        </p:nvCxnSpPr>
        <p:spPr>
          <a:xfrm>
            <a:off x="1116225" y="3285350"/>
            <a:ext cx="1526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9" name="Google Shape;189;p24"/>
          <p:cNvCxnSpPr/>
          <p:nvPr/>
        </p:nvCxnSpPr>
        <p:spPr>
          <a:xfrm flipH="1">
            <a:off x="4106100" y="2180850"/>
            <a:ext cx="671400" cy="77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1377145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5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PhpMyAdmin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5" name="Google Shape;195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40</a:t>
            </a:fld>
            <a:r>
              <a:rPr lang="en-US"/>
              <a:t>]</a:t>
            </a:r>
            <a:endParaRPr/>
          </a:p>
        </p:txBody>
      </p:sp>
      <p:pic>
        <p:nvPicPr>
          <p:cNvPr id="196" name="Google Shape;196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5"/>
          <p:cNvSpPr txBox="1"/>
          <p:nvPr/>
        </p:nvSpPr>
        <p:spPr>
          <a:xfrm>
            <a:off x="565525" y="741800"/>
            <a:ext cx="8016900" cy="18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 startAt="2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Adicione as credenciais do usuário criado no passo 8 e selecione a opção “Executar”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9800" y="2154750"/>
            <a:ext cx="2585475" cy="2704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675373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 b="1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Referências: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https://clients.cloudclusters.io/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16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p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41</a:t>
            </a:fld>
            <a:r>
              <a:rPr lang="en-US"/>
              <a:t>]</a:t>
            </a:r>
            <a:endParaRPr/>
          </a:p>
        </p:txBody>
      </p:sp>
      <p:pic>
        <p:nvPicPr>
          <p:cNvPr id="206" name="Google Shape;206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34770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/>
          <p:nvPr/>
        </p:nvSpPr>
        <p:spPr>
          <a:xfrm>
            <a:off x="565525" y="3874338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Introdução aos Bancos de Dados Relacionais</a:t>
            </a:r>
            <a:endParaRPr sz="2400" b="0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524525" y="10068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Modelagem de Dados Relacionais - Tabelas, Colunas e Registros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42</a:t>
            </a:fld>
            <a:r>
              <a:rPr lang="en-US"/>
              <a:t>]</a:t>
            </a:r>
            <a:endParaRPr/>
          </a:p>
        </p:txBody>
      </p:sp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94292" y="161566"/>
            <a:ext cx="651673" cy="2714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696939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/>
        </p:nvSpPr>
        <p:spPr>
          <a:xfrm>
            <a:off x="463075" y="1069650"/>
            <a:ext cx="8016900" cy="4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Ela é usada para armazenar dados de forma organizada. Cada tabela em um banco de dados relacional tem um nome único e é dividida em colunas e linhas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565525" y="8686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Tabelas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" name="Google Shape;96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43</a:t>
            </a:fld>
            <a:r>
              <a:rPr lang="en-US"/>
              <a:t>]</a:t>
            </a:r>
            <a:endParaRPr/>
          </a:p>
        </p:txBody>
      </p:sp>
      <p:pic>
        <p:nvPicPr>
          <p:cNvPr id="97" name="Google Shape;9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803776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/>
        </p:nvSpPr>
        <p:spPr>
          <a:xfrm>
            <a:off x="668000" y="1459025"/>
            <a:ext cx="8016900" cy="18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 coluna é uma estrutura dentro de uma tabela que representa um atributo específico dos dados armazenados. Cada coluna tem um nome único e um tipo de dados associado que define o tipo de informação que pode ser armazenado nela, como números, textos, datas, etc.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539875" y="46900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Colunas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44</a:t>
            </a:fld>
            <a:r>
              <a:rPr lang="en-US"/>
              <a:t>]</a:t>
            </a:r>
            <a:endParaRPr/>
          </a:p>
        </p:txBody>
      </p:sp>
      <p:pic>
        <p:nvPicPr>
          <p:cNvPr id="105" name="Google Shape;10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147009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/>
        </p:nvSpPr>
        <p:spPr>
          <a:xfrm>
            <a:off x="668000" y="1459025"/>
            <a:ext cx="8016900" cy="18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Um registro, também conhecido como linha ou tupla, é uma instância individual de dados em uma tabela.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539875" y="46900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Registros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" name="Google Shape;112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45</a:t>
            </a:fld>
            <a:r>
              <a:rPr lang="en-US"/>
              <a:t>]</a:t>
            </a:r>
            <a:endParaRPr/>
          </a:p>
        </p:txBody>
      </p:sp>
      <p:pic>
        <p:nvPicPr>
          <p:cNvPr id="113" name="Google Shape;113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367828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/>
        </p:nvSpPr>
        <p:spPr>
          <a:xfrm>
            <a:off x="565525" y="741800"/>
            <a:ext cx="8016900" cy="4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TABLE {{nome}}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({{coluna}} {{tipo}} {{opções}} COMMENT {{‘COMENTARIO´}});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491825" y="25387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Comando: CREATE TABLE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0" name="Google Shape;120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46</a:t>
            </a:fld>
            <a:r>
              <a:rPr lang="en-US"/>
              <a:t>]</a:t>
            </a:r>
            <a:endParaRPr/>
          </a:p>
        </p:txBody>
      </p:sp>
      <p:pic>
        <p:nvPicPr>
          <p:cNvPr id="121" name="Google Shape;121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30748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/>
        </p:nvSpPr>
        <p:spPr>
          <a:xfrm>
            <a:off x="565525" y="741800"/>
            <a:ext cx="8016900" cy="4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dados podem variar muito entre os diversos SGBD, os mais comuns são: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Inteiro (Integer)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Decimal/Numérico (Decimal/Numeric)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Caractere/Varchar (Character/Varchar)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Data/Hora (Date/Time)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Booleano (Boolean)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Texto longo (Text)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491825" y="25387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Tipos de Dados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8" name="Google Shape;128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47</a:t>
            </a:fld>
            <a:r>
              <a:rPr lang="en-US"/>
              <a:t>]</a:t>
            </a:r>
            <a:endParaRPr/>
          </a:p>
        </p:txBody>
      </p:sp>
      <p:pic>
        <p:nvPicPr>
          <p:cNvPr id="129" name="Google Shape;129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7647797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/>
        </p:nvSpPr>
        <p:spPr>
          <a:xfrm>
            <a:off x="565525" y="741800"/>
            <a:ext cx="8016900" cy="4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dados podem variar muito entre os diversos SGBD, os mais comuns são: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Inteiro (Integer)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Decimal/Numérico (Decimal/Numeric)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Caractere/Varchar (Character/Varchar)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Data/Hora (Date/Time)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Booleano (Boolean)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Texto longo (Text)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0"/>
          <p:cNvSpPr txBox="1"/>
          <p:nvPr/>
        </p:nvSpPr>
        <p:spPr>
          <a:xfrm>
            <a:off x="491825" y="25387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Tipos de Dados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6" name="Google Shape;136;p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48</a:t>
            </a:fld>
            <a:r>
              <a:rPr lang="en-US"/>
              <a:t>]</a:t>
            </a:r>
            <a:endParaRPr/>
          </a:p>
        </p:txBody>
      </p:sp>
      <p:pic>
        <p:nvPicPr>
          <p:cNvPr id="137" name="Google Shape;137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027908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/>
        </p:nvSpPr>
        <p:spPr>
          <a:xfrm>
            <a:off x="565525" y="1295100"/>
            <a:ext cx="8016900" cy="37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Restrições de valor: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NULL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UNIQUE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DEFAULT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Chaves primárias e estrangeiras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 Incremento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1"/>
          <p:cNvSpPr txBox="1"/>
          <p:nvPr/>
        </p:nvSpPr>
        <p:spPr>
          <a:xfrm>
            <a:off x="491825" y="25387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Comando: CREATE TABLE - Opções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4" name="Google Shape;144;p2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49</a:t>
            </a:fld>
            <a:r>
              <a:rPr lang="en-US"/>
              <a:t>]</a:t>
            </a:r>
            <a:endParaRPr/>
          </a:p>
        </p:txBody>
      </p:sp>
      <p:pic>
        <p:nvPicPr>
          <p:cNvPr id="145" name="Google Shape;145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7783072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/>
        </p:nvSpPr>
        <p:spPr>
          <a:xfrm>
            <a:off x="565525" y="1355575"/>
            <a:ext cx="7737600" cy="3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“Falar é fácil.</a:t>
            </a:r>
            <a:endParaRPr sz="5400" b="1" i="1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 Mostre-me o código!”</a:t>
            </a:r>
            <a:endParaRPr sz="5400" b="1" i="1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3200" b="1" i="1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-US" sz="3200" b="0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Linus Torvalds </a:t>
            </a:r>
            <a:endParaRPr sz="3200" b="1" i="1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1" name="Google Shape;151;p22"/>
          <p:cNvSpPr txBox="1"/>
          <p:nvPr/>
        </p:nvSpPr>
        <p:spPr>
          <a:xfrm>
            <a:off x="565525" y="870475"/>
            <a:ext cx="79914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Hands On! </a:t>
            </a:r>
            <a:endParaRPr sz="24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2" name="Google Shape;152;p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50</a:t>
            </a:fld>
            <a:r>
              <a:rPr lang="en-US"/>
              <a:t>]</a:t>
            </a:r>
            <a:endParaRPr/>
          </a:p>
        </p:txBody>
      </p:sp>
      <p:pic>
        <p:nvPicPr>
          <p:cNvPr id="153" name="Google Shape;153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94292" y="161566"/>
            <a:ext cx="651673" cy="2714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6532334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/>
          <p:nvPr/>
        </p:nvSpPr>
        <p:spPr>
          <a:xfrm>
            <a:off x="565525" y="741800"/>
            <a:ext cx="8016900" cy="4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INTO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{{ nome-tabela }}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([ coluna1, coluna2, … ]) 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*** você pode ocultar as colunas</a:t>
            </a: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VALUES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([ valor-coluna1, valor-coluna2, … ])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3"/>
          <p:cNvSpPr txBox="1"/>
          <p:nvPr/>
        </p:nvSpPr>
        <p:spPr>
          <a:xfrm>
            <a:off x="491825" y="25387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Comando: INSERT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0" name="Google Shape;160;p2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51</a:t>
            </a:fld>
            <a:r>
              <a:rPr lang="en-US"/>
              <a:t>]</a:t>
            </a:r>
            <a:endParaRPr/>
          </a:p>
        </p:txBody>
      </p:sp>
      <p:pic>
        <p:nvPicPr>
          <p:cNvPr id="161" name="Google Shape;161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085583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/>
          <p:nvPr/>
        </p:nvSpPr>
        <p:spPr>
          <a:xfrm>
            <a:off x="565525" y="741800"/>
            <a:ext cx="8016900" cy="4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{{ lista_colunas}}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tabela;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Onde * retorna todas as colunas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4"/>
          <p:cNvSpPr txBox="1"/>
          <p:nvPr/>
        </p:nvSpPr>
        <p:spPr>
          <a:xfrm>
            <a:off x="491825" y="25387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Comando: SELECT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8" name="Google Shape;168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52</a:t>
            </a:fld>
            <a:r>
              <a:rPr lang="en-US"/>
              <a:t>]</a:t>
            </a:r>
            <a:endParaRPr/>
          </a:p>
        </p:txBody>
      </p:sp>
      <p:pic>
        <p:nvPicPr>
          <p:cNvPr id="169" name="Google Shape;169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0502883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"/>
          <p:cNvSpPr txBox="1"/>
          <p:nvPr/>
        </p:nvSpPr>
        <p:spPr>
          <a:xfrm>
            <a:off x="565525" y="741800"/>
            <a:ext cx="8016900" cy="4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{{ lista_colunas}}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tabela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{{condicao}};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5"/>
          <p:cNvSpPr txBox="1"/>
          <p:nvPr/>
        </p:nvSpPr>
        <p:spPr>
          <a:xfrm>
            <a:off x="491825" y="25387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Comando: SELECT com Where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6" name="Google Shape;176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53</a:t>
            </a:fld>
            <a:r>
              <a:rPr lang="en-US"/>
              <a:t>]</a:t>
            </a:r>
            <a:endParaRPr/>
          </a:p>
        </p:txBody>
      </p:sp>
      <p:pic>
        <p:nvPicPr>
          <p:cNvPr id="177" name="Google Shape;177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6098151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6"/>
          <p:cNvSpPr txBox="1"/>
          <p:nvPr/>
        </p:nvSpPr>
        <p:spPr>
          <a:xfrm>
            <a:off x="565525" y="741800"/>
            <a:ext cx="8016900" cy="4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925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(igualdade)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&lt;&gt; ou != (desigualdade)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(maior que)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 (menor que)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&gt;= (maior ou igual que)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&lt;= (menor ou igual que)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LIKE (comparação de padrões)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(pertence a uma lista de valores)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BETWEEN (dentro de um intervalo)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(e lógico)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 (ou lógico)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6"/>
          <p:cNvSpPr txBox="1"/>
          <p:nvPr/>
        </p:nvSpPr>
        <p:spPr>
          <a:xfrm>
            <a:off x="491825" y="25387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7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Comando: SELECT - Operadores</a:t>
            </a:r>
            <a:endParaRPr sz="28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4" name="Google Shape;184;p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54</a:t>
            </a:fld>
            <a:r>
              <a:rPr lang="en-US"/>
              <a:t>]</a:t>
            </a:r>
            <a:endParaRPr/>
          </a:p>
        </p:txBody>
      </p:sp>
      <p:pic>
        <p:nvPicPr>
          <p:cNvPr id="185" name="Google Shape;185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0221762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7"/>
          <p:cNvSpPr txBox="1"/>
          <p:nvPr/>
        </p:nvSpPr>
        <p:spPr>
          <a:xfrm>
            <a:off x="491825" y="25387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7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Comandos: Update &amp; Delete</a:t>
            </a:r>
            <a:endParaRPr sz="28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1" name="Google Shape;191;p2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55</a:t>
            </a:fld>
            <a:r>
              <a:rPr lang="en-US"/>
              <a:t>]</a:t>
            </a:r>
            <a:endParaRPr/>
          </a:p>
        </p:txBody>
      </p:sp>
      <p:pic>
        <p:nvPicPr>
          <p:cNvPr id="192" name="Google Shape;192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51916" y="1149600"/>
            <a:ext cx="4696721" cy="3721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8180643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8"/>
          <p:cNvSpPr txBox="1"/>
          <p:nvPr/>
        </p:nvSpPr>
        <p:spPr>
          <a:xfrm>
            <a:off x="565525" y="741800"/>
            <a:ext cx="8016900" cy="4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 {{ tabela }}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{{ coluna_1 }} = {{ novo_valor_1 }},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{{ coluna_2 }} = {{ novo_valor_2 }}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{{ condicao }} ;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8"/>
          <p:cNvSpPr txBox="1"/>
          <p:nvPr/>
        </p:nvSpPr>
        <p:spPr>
          <a:xfrm>
            <a:off x="491825" y="25387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Comando: Update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0" name="Google Shape;200;p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56</a:t>
            </a:fld>
            <a:r>
              <a:rPr lang="en-US"/>
              <a:t>]</a:t>
            </a:r>
            <a:endParaRPr/>
          </a:p>
        </p:txBody>
      </p:sp>
      <p:pic>
        <p:nvPicPr>
          <p:cNvPr id="201" name="Google Shape;201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9657434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9"/>
          <p:cNvSpPr txBox="1"/>
          <p:nvPr/>
        </p:nvSpPr>
        <p:spPr>
          <a:xfrm>
            <a:off x="565525" y="741800"/>
            <a:ext cx="8016900" cy="4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DELETE FROM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{{ tabela }}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{{ condicao }};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9"/>
          <p:cNvSpPr txBox="1"/>
          <p:nvPr/>
        </p:nvSpPr>
        <p:spPr>
          <a:xfrm>
            <a:off x="491825" y="25387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Comando: Delete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8" name="Google Shape;208;p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57</a:t>
            </a:fld>
            <a:r>
              <a:rPr lang="en-US"/>
              <a:t>]</a:t>
            </a:r>
            <a:endParaRPr/>
          </a:p>
        </p:txBody>
      </p:sp>
      <p:pic>
        <p:nvPicPr>
          <p:cNvPr id="209" name="Google Shape;209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349698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0"/>
          <p:cNvSpPr txBox="1"/>
          <p:nvPr/>
        </p:nvSpPr>
        <p:spPr>
          <a:xfrm>
            <a:off x="565525" y="741800"/>
            <a:ext cx="8016900" cy="4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https://github.com/pamelaborges/dio-bd-relacional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0"/>
          <p:cNvSpPr txBox="1"/>
          <p:nvPr/>
        </p:nvSpPr>
        <p:spPr>
          <a:xfrm>
            <a:off x="491825" y="25387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Scripts produzidos no Hands On	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Google Shape;216;p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58</a:t>
            </a:fld>
            <a:r>
              <a:rPr lang="en-US"/>
              <a:t>]</a:t>
            </a:r>
            <a:endParaRPr/>
          </a:p>
        </p:txBody>
      </p:sp>
      <p:pic>
        <p:nvPicPr>
          <p:cNvPr id="217" name="Google Shape;217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9530589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1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 b="1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Referências: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https://mariadb.com/kb/en/data-types/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https://mariadb.com/kb/en/create-table/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https://clients.cloudclusters.io/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16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1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4" name="Google Shape;224;p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59</a:t>
            </a:fld>
            <a:r>
              <a:rPr lang="en-US"/>
              <a:t>]</a:t>
            </a:r>
            <a:endParaRPr/>
          </a:p>
        </p:txBody>
      </p:sp>
      <p:pic>
        <p:nvPicPr>
          <p:cNvPr id="225" name="Google Shape;225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1961234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/>
          <p:nvPr/>
        </p:nvSpPr>
        <p:spPr>
          <a:xfrm>
            <a:off x="565525" y="3874338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Introdução aos Bancos de Dados Relacionais</a:t>
            </a:r>
            <a:endParaRPr sz="2400" b="0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524525" y="10068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Modelagem de Dados Relacionais - Operações CRUD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60</a:t>
            </a:fld>
            <a:r>
              <a:rPr lang="en-US"/>
              <a:t>]</a:t>
            </a:r>
            <a:endParaRPr/>
          </a:p>
        </p:txBody>
      </p:sp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94292" y="161566"/>
            <a:ext cx="651673" cy="2714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4850638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/>
        </p:nvSpPr>
        <p:spPr>
          <a:xfrm>
            <a:off x="565525" y="741800"/>
            <a:ext cx="8016900" cy="4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INTO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{{ nome-tabela }}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([ coluna1, coluna2, … ]) 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*** você pode ocultar as colunas</a:t>
            </a: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VALUES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([ valor-coluna1, valor-coluna2, … ])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491825" y="25387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Comando: INSERT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" name="Google Shape;96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61</a:t>
            </a:fld>
            <a:r>
              <a:rPr lang="en-US"/>
              <a:t>]</a:t>
            </a:r>
            <a:endParaRPr/>
          </a:p>
        </p:txBody>
      </p:sp>
      <p:pic>
        <p:nvPicPr>
          <p:cNvPr id="97" name="Google Shape;9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7370976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/>
        </p:nvSpPr>
        <p:spPr>
          <a:xfrm>
            <a:off x="565525" y="741800"/>
            <a:ext cx="8016900" cy="4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{{ lista_colunas}}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tabela;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Onde * retorna todas as colunas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491825" y="25387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Comando: SELECT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62</a:t>
            </a:fld>
            <a:r>
              <a:rPr lang="en-US"/>
              <a:t>]</a:t>
            </a:r>
            <a:endParaRPr/>
          </a:p>
        </p:txBody>
      </p:sp>
      <p:pic>
        <p:nvPicPr>
          <p:cNvPr id="105" name="Google Shape;10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117762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/>
        </p:nvSpPr>
        <p:spPr>
          <a:xfrm>
            <a:off x="565525" y="741800"/>
            <a:ext cx="8016900" cy="4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{{ lista_colunas}}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tabela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{{condicao}};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491825" y="25387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Comando: SELECT com Where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" name="Google Shape;112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63</a:t>
            </a:fld>
            <a:r>
              <a:rPr lang="en-US"/>
              <a:t>]</a:t>
            </a:r>
            <a:endParaRPr/>
          </a:p>
        </p:txBody>
      </p:sp>
      <p:pic>
        <p:nvPicPr>
          <p:cNvPr id="113" name="Google Shape;113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0210272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/>
        </p:nvSpPr>
        <p:spPr>
          <a:xfrm>
            <a:off x="565525" y="741800"/>
            <a:ext cx="8016900" cy="4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925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(igualdade)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&lt;&gt; ou != (desigualdade)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(maior que)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 (menor que)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&gt;= (maior ou igual que)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&lt;= (menor ou igual que)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LIKE (comparação de padrões)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(pertence a uma lista de valores)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BETWEEN (dentro de um intervalo)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(e lógico)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 (ou lógico)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491825" y="25387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7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Comando: SELECT - Operadores</a:t>
            </a:r>
            <a:endParaRPr sz="28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0" name="Google Shape;120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64</a:t>
            </a:fld>
            <a:r>
              <a:rPr lang="en-US"/>
              <a:t>]</a:t>
            </a:r>
            <a:endParaRPr/>
          </a:p>
        </p:txBody>
      </p:sp>
      <p:pic>
        <p:nvPicPr>
          <p:cNvPr id="121" name="Google Shape;121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5368417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/>
        </p:nvSpPr>
        <p:spPr>
          <a:xfrm>
            <a:off x="491825" y="25387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7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Comandos: Update &amp; Delete</a:t>
            </a:r>
            <a:endParaRPr sz="28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7" name="Google Shape;127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65</a:t>
            </a:fld>
            <a:r>
              <a:rPr lang="en-US"/>
              <a:t>]</a:t>
            </a:r>
            <a:endParaRPr/>
          </a:p>
        </p:txBody>
      </p:sp>
      <p:pic>
        <p:nvPicPr>
          <p:cNvPr id="128" name="Google Shape;128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51916" y="1149600"/>
            <a:ext cx="4696721" cy="3721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8155110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/>
        </p:nvSpPr>
        <p:spPr>
          <a:xfrm>
            <a:off x="565525" y="741800"/>
            <a:ext cx="8016900" cy="4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 {{ tabela }}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{{ coluna_1 }} = {{ novo_valor_1 }},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{{ coluna_2 }} = {{ novo_valor_2 }}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{{ condicao }} ;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0"/>
          <p:cNvSpPr txBox="1"/>
          <p:nvPr/>
        </p:nvSpPr>
        <p:spPr>
          <a:xfrm>
            <a:off x="491825" y="25387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Comando: Update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6" name="Google Shape;136;p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66</a:t>
            </a:fld>
            <a:r>
              <a:rPr lang="en-US"/>
              <a:t>]</a:t>
            </a:r>
            <a:endParaRPr/>
          </a:p>
        </p:txBody>
      </p:sp>
      <p:pic>
        <p:nvPicPr>
          <p:cNvPr id="137" name="Google Shape;137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9464770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/>
        </p:nvSpPr>
        <p:spPr>
          <a:xfrm>
            <a:off x="565525" y="741800"/>
            <a:ext cx="8016900" cy="4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DELETE FROM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{{ tabela }}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{{ condicao }};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1"/>
          <p:cNvSpPr txBox="1"/>
          <p:nvPr/>
        </p:nvSpPr>
        <p:spPr>
          <a:xfrm>
            <a:off x="491825" y="25387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Comando: Delete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4" name="Google Shape;144;p2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67</a:t>
            </a:fld>
            <a:r>
              <a:rPr lang="en-US"/>
              <a:t>]</a:t>
            </a:r>
            <a:endParaRPr/>
          </a:p>
        </p:txBody>
      </p:sp>
      <p:pic>
        <p:nvPicPr>
          <p:cNvPr id="145" name="Google Shape;145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3241979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/>
        </p:nvSpPr>
        <p:spPr>
          <a:xfrm>
            <a:off x="565525" y="741800"/>
            <a:ext cx="8016900" cy="4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https://github.com/pamelaborges/dio-bd-relacional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2"/>
          <p:cNvSpPr txBox="1"/>
          <p:nvPr/>
        </p:nvSpPr>
        <p:spPr>
          <a:xfrm>
            <a:off x="491825" y="25387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Scripts produzidos no Hands On	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2" name="Google Shape;152;p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68</a:t>
            </a:fld>
            <a:r>
              <a:rPr lang="en-US"/>
              <a:t>]</a:t>
            </a:r>
            <a:endParaRPr/>
          </a:p>
        </p:txBody>
      </p:sp>
      <p:pic>
        <p:nvPicPr>
          <p:cNvPr id="153" name="Google Shape;153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784485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 b="1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Referências: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https://mariadb.com/kb/en/data-types/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https://mariadb.com/kb/en/create-table/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https://clients.cloudclusters.io/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16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3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0" name="Google Shape;160;p2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69</a:t>
            </a:fld>
            <a:r>
              <a:rPr lang="en-US"/>
              <a:t>]</a:t>
            </a:r>
            <a:endParaRPr/>
          </a:p>
        </p:txBody>
      </p:sp>
      <p:pic>
        <p:nvPicPr>
          <p:cNvPr id="161" name="Google Shape;161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9417741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/>
          <p:nvPr/>
        </p:nvSpPr>
        <p:spPr>
          <a:xfrm>
            <a:off x="565525" y="3874338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Introdução aos Bancos de Dados Relacionais</a:t>
            </a:r>
            <a:endParaRPr sz="2400" b="0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524525" y="10068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Modelagem de Dados Relacionais - Alterando e Excluindo Tabelas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70</a:t>
            </a:fld>
            <a:r>
              <a:rPr lang="en-US"/>
              <a:t>]</a:t>
            </a:r>
            <a:endParaRPr/>
          </a:p>
        </p:txBody>
      </p:sp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94292" y="161566"/>
            <a:ext cx="651673" cy="2714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1505940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/>
        </p:nvSpPr>
        <p:spPr>
          <a:xfrm>
            <a:off x="563550" y="1448800"/>
            <a:ext cx="8016900" cy="24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Usuários com endereços longos não estão conseguindo realizar cadastro no sistema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Opções: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Recriar a tabela, migrar os dados e excluir a tabela anterior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Alterar estrutura da tabela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565525" y="8686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Problema: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" name="Google Shape;96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71</a:t>
            </a:fld>
            <a:r>
              <a:rPr lang="en-US"/>
              <a:t>]</a:t>
            </a:r>
            <a:endParaRPr/>
          </a:p>
        </p:txBody>
      </p:sp>
      <p:pic>
        <p:nvPicPr>
          <p:cNvPr id="97" name="Google Shape;9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4412040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/>
        </p:nvSpPr>
        <p:spPr>
          <a:xfrm>
            <a:off x="668000" y="1459025"/>
            <a:ext cx="8016900" cy="18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comando DROP TABLE é usado no SQL - para remover uma tabela existente de um banco de dados relacional.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 exclui permanentemente a tabela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DROP TABLE {{tabela}}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539875" y="46900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Drop Table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72</a:t>
            </a:fld>
            <a:r>
              <a:rPr lang="en-US"/>
              <a:t>]</a:t>
            </a:r>
            <a:endParaRPr/>
          </a:p>
        </p:txBody>
      </p:sp>
      <p:pic>
        <p:nvPicPr>
          <p:cNvPr id="105" name="Google Shape;10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9507041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/>
        </p:nvSpPr>
        <p:spPr>
          <a:xfrm>
            <a:off x="668000" y="1459025"/>
            <a:ext cx="8016900" cy="18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cláusula ALTER TABLE é usada no SQL para modificar a estrutura de uma tabela existente em um banco de dados relacional.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Ela permite: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Adicionar, alterar ou excluir colunas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Modificar as restrições, índices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Renomear a tabela entre outras alterações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539875" y="46900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Alter Table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" name="Google Shape;112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73</a:t>
            </a:fld>
            <a:r>
              <a:rPr lang="en-US"/>
              <a:t>]</a:t>
            </a:r>
            <a:endParaRPr/>
          </a:p>
        </p:txBody>
      </p:sp>
      <p:pic>
        <p:nvPicPr>
          <p:cNvPr id="113" name="Google Shape;113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7702176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/>
        </p:nvSpPr>
        <p:spPr>
          <a:xfrm>
            <a:off x="565525" y="741800"/>
            <a:ext cx="8016900" cy="4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https://github.com/pamelaborges/dio-bd-relacional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491825" y="25387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Scripts produzidos no Hands On	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0" name="Google Shape;120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74</a:t>
            </a:fld>
            <a:r>
              <a:rPr lang="en-US"/>
              <a:t>]</a:t>
            </a:r>
            <a:endParaRPr/>
          </a:p>
        </p:txBody>
      </p:sp>
      <p:pic>
        <p:nvPicPr>
          <p:cNvPr id="121" name="Google Shape;121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8961039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 b="1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Referências: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https://mariadb.com/kb/en/alter-table/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https://mariadb.com/kb/en/drop-table/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16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8" name="Google Shape;128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75</a:t>
            </a:fld>
            <a:r>
              <a:rPr lang="en-US"/>
              <a:t>]</a:t>
            </a:r>
            <a:endParaRPr/>
          </a:p>
        </p:txBody>
      </p:sp>
      <p:pic>
        <p:nvPicPr>
          <p:cNvPr id="129" name="Google Shape;129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9559414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/>
          <p:nvPr/>
        </p:nvSpPr>
        <p:spPr>
          <a:xfrm>
            <a:off x="565525" y="3874338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Introdução aos Bancos de Dados Relacionais</a:t>
            </a:r>
            <a:endParaRPr sz="2400" b="0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524525" y="10068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Modelagem de Dados Relacionais - Chaves Primária e Estrangeiras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76</a:t>
            </a:fld>
            <a:r>
              <a:rPr lang="en-US"/>
              <a:t>]</a:t>
            </a:r>
            <a:endParaRPr/>
          </a:p>
        </p:txBody>
      </p:sp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94292" y="161566"/>
            <a:ext cx="651673" cy="2714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6585069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/>
        </p:nvSpPr>
        <p:spPr>
          <a:xfrm>
            <a:off x="563550" y="1448800"/>
            <a:ext cx="8016900" cy="24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Identifica exclusivamente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Não pode conter valores nulos (NULL)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 tabela pode ter apenas uma chave primária.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565525" y="8686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Chaves Primária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" name="Google Shape;96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77</a:t>
            </a:fld>
            <a:r>
              <a:rPr lang="en-US"/>
              <a:t>]</a:t>
            </a:r>
            <a:endParaRPr/>
          </a:p>
        </p:txBody>
      </p:sp>
      <p:pic>
        <p:nvPicPr>
          <p:cNvPr id="97" name="Google Shape;9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855037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/>
        </p:nvSpPr>
        <p:spPr>
          <a:xfrm>
            <a:off x="668000" y="1459025"/>
            <a:ext cx="8016900" cy="18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TABLE {{tabela}}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 ID 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PRIMARY KEY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AUTOINCREMENT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… );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 TABLE {{tabela}}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MODIFY COLUMN ID INT PRIMARY KEY;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539875" y="46900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Chaves Primária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78</a:t>
            </a:fld>
            <a:r>
              <a:rPr lang="en-US"/>
              <a:t>]</a:t>
            </a:r>
            <a:endParaRPr/>
          </a:p>
        </p:txBody>
      </p:sp>
      <p:pic>
        <p:nvPicPr>
          <p:cNvPr id="105" name="Google Shape;10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6" name="Google Shape;106;p16"/>
          <p:cNvCxnSpPr/>
          <p:nvPr/>
        </p:nvCxnSpPr>
        <p:spPr>
          <a:xfrm rot="10800000">
            <a:off x="2225550" y="2616725"/>
            <a:ext cx="963000" cy="5124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07" name="Google Shape;107;p16"/>
          <p:cNvSpPr txBox="1"/>
          <p:nvPr/>
        </p:nvSpPr>
        <p:spPr>
          <a:xfrm>
            <a:off x="3291025" y="3159875"/>
            <a:ext cx="1209000" cy="4002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Constraint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3589256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/>
        </p:nvSpPr>
        <p:spPr>
          <a:xfrm>
            <a:off x="668000" y="1459025"/>
            <a:ext cx="8016900" cy="31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Ela é usada para estabelecer e manter a integridade dos dados entre tabelas relacionadas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Pode ser nula (NOT NULL); </a:t>
            </a:r>
            <a:r>
              <a:rPr lang="en-US" sz="2400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rPr>
              <a:t>** registro órfão</a:t>
            </a:r>
            <a:endParaRPr sz="2400">
              <a:solidFill>
                <a:srgbClr val="E0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 possível ter mais de uma (ou nenhuma) em uma tabela.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539875" y="46900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Chaves Estrangeira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4" name="Google Shape;114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79</a:t>
            </a:fld>
            <a:r>
              <a:rPr lang="en-US"/>
              <a:t>]</a:t>
            </a:r>
            <a:endParaRPr/>
          </a:p>
        </p:txBody>
      </p:sp>
      <p:pic>
        <p:nvPicPr>
          <p:cNvPr id="115" name="Google Shape;115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9931993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/>
        </p:nvSpPr>
        <p:spPr>
          <a:xfrm>
            <a:off x="668000" y="1459025"/>
            <a:ext cx="8016900" cy="18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TABLE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{{tabela }} (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id INT PRIMARY KEY,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chave_estrangeira INT,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FOREIGN KEY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(chave_estrangeira) REFERENCES {{outra tabela }} (id)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);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8"/>
          <p:cNvSpPr txBox="1"/>
          <p:nvPr/>
        </p:nvSpPr>
        <p:spPr>
          <a:xfrm>
            <a:off x="539875" y="46900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Chaves Estrangeira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2" name="Google Shape;122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80</a:t>
            </a:fld>
            <a:r>
              <a:rPr lang="en-US"/>
              <a:t>]</a:t>
            </a:r>
            <a:endParaRPr/>
          </a:p>
        </p:txBody>
      </p:sp>
      <p:pic>
        <p:nvPicPr>
          <p:cNvPr id="123" name="Google Shape;123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1285937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/>
          <p:nvPr/>
        </p:nvSpPr>
        <p:spPr>
          <a:xfrm>
            <a:off x="668000" y="1459025"/>
            <a:ext cx="8016900" cy="18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 TABLE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{{ tabela }}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CONSTRAINT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{{nome_constraint }}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FOREIGN KEY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(ID_)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{{outra_tabela}} (ID)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539875" y="46900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Chaves Estrangeira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0" name="Google Shape;130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81</a:t>
            </a:fld>
            <a:r>
              <a:rPr lang="en-US"/>
              <a:t>]</a:t>
            </a:r>
            <a:endParaRPr/>
          </a:p>
        </p:txBody>
      </p:sp>
      <p:pic>
        <p:nvPicPr>
          <p:cNvPr id="131" name="Google Shape;131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3655124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/>
        </p:nvSpPr>
        <p:spPr>
          <a:xfrm>
            <a:off x="668000" y="1459025"/>
            <a:ext cx="8016900" cy="3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DELETE especifica o que acontece com os registros dependentes quando um registro pai é excluído.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UPDATE define o comportamento dos registros dependentes quando um registro pai é atualizado.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CASCADE, SET NULL, SET DEFAULT e RESTRICT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0"/>
          <p:cNvSpPr txBox="1"/>
          <p:nvPr/>
        </p:nvSpPr>
        <p:spPr>
          <a:xfrm>
            <a:off x="539875" y="46900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Chaves Estrangeira - Restrições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8" name="Google Shape;138;p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82</a:t>
            </a:fld>
            <a:r>
              <a:rPr lang="en-US"/>
              <a:t>]</a:t>
            </a:r>
            <a:endParaRPr/>
          </a:p>
        </p:txBody>
      </p:sp>
      <p:pic>
        <p:nvPicPr>
          <p:cNvPr id="139" name="Google Shape;139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7392477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/>
          <p:nvPr/>
        </p:nvSpPr>
        <p:spPr>
          <a:xfrm>
            <a:off x="565525" y="1355575"/>
            <a:ext cx="7737600" cy="3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“Falar é fácil.</a:t>
            </a:r>
            <a:endParaRPr sz="5400" b="1" i="1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 Mostre-me o código!”</a:t>
            </a:r>
            <a:endParaRPr sz="5400" b="1" i="1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3200" b="1" i="1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-US" sz="3200" b="0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Linus Torvalds </a:t>
            </a:r>
            <a:endParaRPr sz="3200" b="1" i="1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5" name="Google Shape;145;p21"/>
          <p:cNvSpPr txBox="1"/>
          <p:nvPr/>
        </p:nvSpPr>
        <p:spPr>
          <a:xfrm>
            <a:off x="565525" y="870475"/>
            <a:ext cx="79914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Hands On! </a:t>
            </a:r>
            <a:endParaRPr sz="24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6" name="Google Shape;146;p2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83</a:t>
            </a:fld>
            <a:r>
              <a:rPr lang="en-US"/>
              <a:t>]</a:t>
            </a:r>
            <a:endParaRPr/>
          </a:p>
        </p:txBody>
      </p:sp>
      <p:pic>
        <p:nvPicPr>
          <p:cNvPr id="147" name="Google Shape;147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94292" y="161566"/>
            <a:ext cx="651673" cy="2714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4729119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/>
          <p:nvPr/>
        </p:nvSpPr>
        <p:spPr>
          <a:xfrm>
            <a:off x="565525" y="741800"/>
            <a:ext cx="8016900" cy="4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https://github.com/pamelaborges/dio-bd-relacional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2"/>
          <p:cNvSpPr txBox="1"/>
          <p:nvPr/>
        </p:nvSpPr>
        <p:spPr>
          <a:xfrm>
            <a:off x="491825" y="25387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Scripts produzidos no Hands On	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4" name="Google Shape;154;p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84</a:t>
            </a:fld>
            <a:r>
              <a:rPr lang="en-US"/>
              <a:t>]</a:t>
            </a:r>
            <a:endParaRPr/>
          </a:p>
        </p:txBody>
      </p:sp>
      <p:pic>
        <p:nvPicPr>
          <p:cNvPr id="155" name="Google Shape;155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797057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 b="1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Referências: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https://mariadb.com/kb/en/data-types/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https://mariadb.com/kb/en/create-table/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16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3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2" name="Google Shape;162;p2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85</a:t>
            </a:fld>
            <a:r>
              <a:rPr lang="en-US"/>
              <a:t>]</a:t>
            </a:r>
            <a:endParaRPr/>
          </a:p>
        </p:txBody>
      </p:sp>
      <p:pic>
        <p:nvPicPr>
          <p:cNvPr id="163" name="Google Shape;163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260209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/>
          <p:nvPr/>
        </p:nvSpPr>
        <p:spPr>
          <a:xfrm>
            <a:off x="565525" y="3874338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Introdução aos Bancos de Dados Relacionais</a:t>
            </a:r>
            <a:endParaRPr sz="2400" b="0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524525" y="10068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Normalização de Dados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86</a:t>
            </a:fld>
            <a:r>
              <a:rPr lang="en-US"/>
              <a:t>]</a:t>
            </a:r>
            <a:endParaRPr/>
          </a:p>
        </p:txBody>
      </p:sp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94292" y="161566"/>
            <a:ext cx="651673" cy="2714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9066193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/>
        </p:nvSpPr>
        <p:spPr>
          <a:xfrm>
            <a:off x="563550" y="1448800"/>
            <a:ext cx="8016900" cy="27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	nome	endereco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	| João	        | Rua A, 123, Cidade X, Estado 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	| Maria	 | Rua B, 456, Cidade Y, Estado Z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	| Pedro	 | Avenida C, 789, Cidade X, Estado 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 buscar todos os usuário da Cidade X ?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630475" y="40200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Problema: 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" name="Google Shape;96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87</a:t>
            </a:fld>
            <a:r>
              <a:rPr lang="en-US"/>
              <a:t>]</a:t>
            </a:r>
            <a:endParaRPr/>
          </a:p>
        </p:txBody>
      </p:sp>
      <p:pic>
        <p:nvPicPr>
          <p:cNvPr id="97" name="Google Shape;9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430967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/>
        </p:nvSpPr>
        <p:spPr>
          <a:xfrm>
            <a:off x="668000" y="1459025"/>
            <a:ext cx="8016900" cy="18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normalização de dados é um processo no qual se organiza e estrutura um banco de dados relacional de forma a eliminar redundâncias e anomalias, garantindo a consistência e integridade dos dados.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539875" y="46900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Normalização de dados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88</a:t>
            </a:fld>
            <a:r>
              <a:rPr lang="en-US"/>
              <a:t>]</a:t>
            </a:r>
            <a:endParaRPr/>
          </a:p>
        </p:txBody>
      </p:sp>
      <p:pic>
        <p:nvPicPr>
          <p:cNvPr id="105" name="Google Shape;10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5323633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/>
        </p:nvSpPr>
        <p:spPr>
          <a:xfrm>
            <a:off x="668000" y="1459025"/>
            <a:ext cx="8016900" cy="31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1FN: Atomicidade de dados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1FN estabelece que cada valor em uma tabela deve ser atômico, ou seja, indivisível. Nenhum campo deve conter múltiplos valores ou listas. No seu caso, o campo "endereco" contém múltiplos valores, como rua, número, cidade e estado. Para atingir a 1FN, precisamos dividir o campo "endereco" em colunas separadas.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539875" y="46900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Formas Normais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" name="Google Shape;112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89</a:t>
            </a:fld>
            <a:r>
              <a:rPr lang="en-US"/>
              <a:t>]</a:t>
            </a:r>
            <a:endParaRPr/>
          </a:p>
        </p:txBody>
      </p:sp>
      <p:pic>
        <p:nvPicPr>
          <p:cNvPr id="113" name="Google Shape;113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0764137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/>
        </p:nvSpPr>
        <p:spPr>
          <a:xfrm>
            <a:off x="539875" y="46900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Formas Normais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9" name="Google Shape;119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90</a:t>
            </a:fld>
            <a:r>
              <a:rPr lang="en-US"/>
              <a:t>]</a:t>
            </a:r>
            <a:endParaRPr/>
          </a:p>
        </p:txBody>
      </p:sp>
      <p:pic>
        <p:nvPicPr>
          <p:cNvPr id="120" name="Google Shape;120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3825" y="1313500"/>
            <a:ext cx="4829237" cy="3525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9245481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/>
        </p:nvSpPr>
        <p:spPr>
          <a:xfrm>
            <a:off x="668000" y="1459025"/>
            <a:ext cx="8016900" cy="31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2FN estabelece que uma tabela deve estar na 1FN 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Todos os atributos não chave devem depender totalmente da chave primária.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Dica se sua tabela tem uma 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chave primária simples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não existe a possibilidade de termos dependência parcial e por tanto ela já se encontra na 2FN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539875" y="46900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2FN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8" name="Google Shape;128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91</a:t>
            </a:fld>
            <a:r>
              <a:rPr lang="en-US"/>
              <a:t>]</a:t>
            </a:r>
            <a:endParaRPr/>
          </a:p>
        </p:txBody>
      </p:sp>
      <p:pic>
        <p:nvPicPr>
          <p:cNvPr id="129" name="Google Shape;129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6365316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/>
        </p:nvSpPr>
        <p:spPr>
          <a:xfrm>
            <a:off x="668000" y="1459025"/>
            <a:ext cx="8016900" cy="31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 tabela deve estar na 2FN 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Nenhuma coluna não-chave depender de outra coluna não-chave.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Nosso exemplo: Relação Estado -&gt; Cidade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0"/>
          <p:cNvSpPr txBox="1"/>
          <p:nvPr/>
        </p:nvSpPr>
        <p:spPr>
          <a:xfrm>
            <a:off x="539875" y="46900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3FN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6" name="Google Shape;136;p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92</a:t>
            </a:fld>
            <a:r>
              <a:rPr lang="en-US"/>
              <a:t>]</a:t>
            </a:r>
            <a:endParaRPr/>
          </a:p>
        </p:txBody>
      </p:sp>
      <p:pic>
        <p:nvPicPr>
          <p:cNvPr id="137" name="Google Shape;137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722816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/>
        </p:nvSpPr>
        <p:spPr>
          <a:xfrm>
            <a:off x="657875" y="819900"/>
            <a:ext cx="8016900" cy="31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1FN garante que cada valor seja atômico e que os registros sejam únicos e identificáveis.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2FN garante que os atributos não chave dependam totalmente da chave primária, evitando dependências parciais.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3FN elimina dependências transitivas entre os atributos não chave, garantindo que cada atributo não chave dependa apenas da chave primária, não havendo dependências indiretas entre eles.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1"/>
          <p:cNvSpPr txBox="1"/>
          <p:nvPr/>
        </p:nvSpPr>
        <p:spPr>
          <a:xfrm>
            <a:off x="539875" y="5307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Resumo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4" name="Google Shape;144;p2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93</a:t>
            </a:fld>
            <a:r>
              <a:rPr lang="en-US"/>
              <a:t>]</a:t>
            </a:r>
            <a:endParaRPr/>
          </a:p>
        </p:txBody>
      </p:sp>
      <p:pic>
        <p:nvPicPr>
          <p:cNvPr id="145" name="Google Shape;145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261784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/>
        </p:nvSpPr>
        <p:spPr>
          <a:xfrm>
            <a:off x="668000" y="1459025"/>
            <a:ext cx="8016900" cy="18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São 6 ao todo, para mais detalhes consultar </a:t>
            </a:r>
            <a:r>
              <a:rPr lang="en-US" sz="2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https://pt.wikipedia.org/wiki/Normaliza%C3%A7%C3%A3o_de_dados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2"/>
          <p:cNvSpPr txBox="1"/>
          <p:nvPr/>
        </p:nvSpPr>
        <p:spPr>
          <a:xfrm>
            <a:off x="539875" y="46900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Formas Normais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2" name="Google Shape;152;p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94</a:t>
            </a:fld>
            <a:r>
              <a:rPr lang="en-US"/>
              <a:t>]</a:t>
            </a:r>
            <a:endParaRPr/>
          </a:p>
        </p:txBody>
      </p:sp>
      <p:pic>
        <p:nvPicPr>
          <p:cNvPr id="153" name="Google Shape;153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177157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/>
          <p:nvPr/>
        </p:nvSpPr>
        <p:spPr>
          <a:xfrm>
            <a:off x="565525" y="741800"/>
            <a:ext cx="8016900" cy="4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https://github.com/pamelaborges/dio-bd-relacional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3"/>
          <p:cNvSpPr txBox="1"/>
          <p:nvPr/>
        </p:nvSpPr>
        <p:spPr>
          <a:xfrm>
            <a:off x="491825" y="25387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Scripts produzidos no Hands On	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0" name="Google Shape;160;p2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95</a:t>
            </a:fld>
            <a:r>
              <a:rPr lang="en-US"/>
              <a:t>]</a:t>
            </a:r>
            <a:endParaRPr/>
          </a:p>
        </p:txBody>
      </p:sp>
      <p:pic>
        <p:nvPicPr>
          <p:cNvPr id="161" name="Google Shape;161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713601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 b="1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Referências: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○"/>
            </a:pPr>
            <a:r>
              <a:rPr lang="en-US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https://pt.wikipedia.org/wiki/Normaliza%C3%A7%C3%A3o_de_dados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16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4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8" name="Google Shape;168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96</a:t>
            </a:fld>
            <a:r>
              <a:rPr lang="en-US"/>
              <a:t>]</a:t>
            </a:r>
            <a:endParaRPr/>
          </a:p>
        </p:txBody>
      </p:sp>
      <p:pic>
        <p:nvPicPr>
          <p:cNvPr id="169" name="Google Shape;169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0554754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/>
          <p:nvPr/>
        </p:nvSpPr>
        <p:spPr>
          <a:xfrm>
            <a:off x="565525" y="3874338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Introdução aos Bancos de Dados Relacionais</a:t>
            </a:r>
            <a:endParaRPr sz="2400" b="0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524525" y="1006875"/>
            <a:ext cx="82428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Consultas Avançadas - Consultas com junções e subconsultas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97</a:t>
            </a:fld>
            <a:r>
              <a:rPr lang="en-US"/>
              <a:t>]</a:t>
            </a:r>
            <a:endParaRPr/>
          </a:p>
        </p:txBody>
      </p:sp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94292" y="161566"/>
            <a:ext cx="651673" cy="2714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5697210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/>
        </p:nvSpPr>
        <p:spPr>
          <a:xfrm>
            <a:off x="463075" y="1069650"/>
            <a:ext cx="8016900" cy="4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São usadas no SQL para combinar dados de duas ou mais tabelas relacionadas em uma única consulta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565525" y="8686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Junções: JOINs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" name="Google Shape;96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98</a:t>
            </a:fld>
            <a:r>
              <a:rPr lang="en-US"/>
              <a:t>]</a:t>
            </a:r>
            <a:endParaRPr/>
          </a:p>
        </p:txBody>
      </p:sp>
      <p:pic>
        <p:nvPicPr>
          <p:cNvPr id="97" name="Google Shape;9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144484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/>
        </p:nvSpPr>
        <p:spPr>
          <a:xfrm>
            <a:off x="463075" y="1069650"/>
            <a:ext cx="8016900" cy="4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INNER JOIN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LEFT JOIN ou LEFT OUTER JOIN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RIGHT JOIN ou RIGHT OUTER JOIN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FULL JOIN ou FULL OUTER JOIN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565525" y="8686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Junções: Tipos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99</a:t>
            </a:fld>
            <a:r>
              <a:rPr lang="en-US"/>
              <a:t>]</a:t>
            </a:r>
            <a:endParaRPr/>
          </a:p>
        </p:txBody>
      </p:sp>
      <p:pic>
        <p:nvPicPr>
          <p:cNvPr id="105" name="Google Shape;10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9387502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/>
        </p:nvSpPr>
        <p:spPr>
          <a:xfrm>
            <a:off x="668000" y="1459025"/>
            <a:ext cx="8016900" cy="18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Retorna apenas as linhas que têm correspondência em ambas as tabelas envolvidas na junção. A junção é feita com base em uma condição de igualdade especificada na cláusula ON.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*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tabela1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INNER JOIN tabela2 ON tabela1.coluna = tabela2.coluna;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539875" y="46900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INNER JOIN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" name="Google Shape;112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100</a:t>
            </a:fld>
            <a:r>
              <a:rPr lang="en-US"/>
              <a:t>]</a:t>
            </a:r>
            <a:endParaRPr/>
          </a:p>
        </p:txBody>
      </p:sp>
      <p:pic>
        <p:nvPicPr>
          <p:cNvPr id="113" name="Google Shape;113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0364158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/>
        </p:nvSpPr>
        <p:spPr>
          <a:xfrm>
            <a:off x="539875" y="46900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INNER JOIN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9" name="Google Shape;119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101</a:t>
            </a:fld>
            <a:r>
              <a:rPr lang="en-US"/>
              <a:t>]</a:t>
            </a:r>
            <a:endParaRPr/>
          </a:p>
        </p:txBody>
      </p:sp>
      <p:pic>
        <p:nvPicPr>
          <p:cNvPr id="120" name="Google Shape;120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78850" y="1354525"/>
            <a:ext cx="3753650" cy="3115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938007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/>
        </p:nvSpPr>
        <p:spPr>
          <a:xfrm>
            <a:off x="668000" y="1459025"/>
            <a:ext cx="8016900" cy="18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Retorna todas as linhas da tabela à esquerda da junção e as linhas correspondentes da tabela à direita. Se não houver correspondência, os valores da tabela à direita serão NULL.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*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tabela1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LEFT JOIN tabela2 ON tabela1.coluna = tabela2.coluna;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539875" y="46900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LEFT JOIN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8" name="Google Shape;128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102</a:t>
            </a:fld>
            <a:r>
              <a:rPr lang="en-US"/>
              <a:t>]</a:t>
            </a:r>
            <a:endParaRPr/>
          </a:p>
        </p:txBody>
      </p:sp>
      <p:pic>
        <p:nvPicPr>
          <p:cNvPr id="129" name="Google Shape;129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85987940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/>
        </p:nvSpPr>
        <p:spPr>
          <a:xfrm>
            <a:off x="539875" y="46900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LEFT JOIN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5" name="Google Shape;135;p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103</a:t>
            </a:fld>
            <a:r>
              <a:rPr lang="en-US"/>
              <a:t>]</a:t>
            </a:r>
            <a:endParaRPr/>
          </a:p>
        </p:txBody>
      </p:sp>
      <p:pic>
        <p:nvPicPr>
          <p:cNvPr id="136" name="Google Shape;136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6175" y="1607925"/>
            <a:ext cx="3071800" cy="2322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5847766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/>
        </p:nvSpPr>
        <p:spPr>
          <a:xfrm>
            <a:off x="668000" y="1459025"/>
            <a:ext cx="8016900" cy="18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Retorna todas as linhas da tabela à direita da junção e as linhas correspondentes da tabela à esquerda. Se não houver correspondência, os valores da tabela à esquerda serão NULL.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*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tabela1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RIGHT JOIN tabela2 ON tabela1.coluna = tabela2.coluna;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1"/>
          <p:cNvSpPr txBox="1"/>
          <p:nvPr/>
        </p:nvSpPr>
        <p:spPr>
          <a:xfrm>
            <a:off x="539875" y="46900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RIGHT JOIN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4" name="Google Shape;144;p2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104</a:t>
            </a:fld>
            <a:r>
              <a:rPr lang="en-US"/>
              <a:t>]</a:t>
            </a:r>
            <a:endParaRPr/>
          </a:p>
        </p:txBody>
      </p:sp>
      <p:pic>
        <p:nvPicPr>
          <p:cNvPr id="145" name="Google Shape;145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5492426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/>
        </p:nvSpPr>
        <p:spPr>
          <a:xfrm>
            <a:off x="539875" y="46900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RIGHT JOIN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1" name="Google Shape;151;p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105</a:t>
            </a:fld>
            <a:r>
              <a:rPr lang="en-US"/>
              <a:t>]</a:t>
            </a:r>
            <a:endParaRPr/>
          </a:p>
        </p:txBody>
      </p:sp>
      <p:pic>
        <p:nvPicPr>
          <p:cNvPr id="152" name="Google Shape;152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93163" y="1780400"/>
            <a:ext cx="2710325" cy="1906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2391884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/>
          <p:nvPr/>
        </p:nvSpPr>
        <p:spPr>
          <a:xfrm>
            <a:off x="668000" y="1459025"/>
            <a:ext cx="8016900" cy="18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Retorna todas as linhas de ambas as tabelas envolvidas na junção, combinando-as com base em uma condição de igualdade. Se não houver correspondência, os valores ausentes serão preenchidos com NULL.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*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tabela1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FULL JOIN tabela2 ON tabela1.coluna = tabela2.coluna;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3"/>
          <p:cNvSpPr txBox="1"/>
          <p:nvPr/>
        </p:nvSpPr>
        <p:spPr>
          <a:xfrm>
            <a:off x="539875" y="46900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FULL JOIN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0" name="Google Shape;160;p2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106</a:t>
            </a:fld>
            <a:r>
              <a:rPr lang="en-US"/>
              <a:t>]</a:t>
            </a:r>
            <a:endParaRPr/>
          </a:p>
        </p:txBody>
      </p:sp>
      <p:pic>
        <p:nvPicPr>
          <p:cNvPr id="161" name="Google Shape;161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0830727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/>
          <p:nvPr/>
        </p:nvSpPr>
        <p:spPr>
          <a:xfrm>
            <a:off x="539875" y="46900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FULL JOIN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7" name="Google Shape;167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107</a:t>
            </a:fld>
            <a:r>
              <a:rPr lang="en-US"/>
              <a:t>]</a:t>
            </a:r>
            <a:endParaRPr/>
          </a:p>
        </p:txBody>
      </p:sp>
      <p:pic>
        <p:nvPicPr>
          <p:cNvPr id="168" name="Google Shape;168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15550" y="1799725"/>
            <a:ext cx="2934925" cy="199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4"/>
          <p:cNvSpPr/>
          <p:nvPr/>
        </p:nvSpPr>
        <p:spPr>
          <a:xfrm>
            <a:off x="2497700" y="2164925"/>
            <a:ext cx="284100" cy="393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24"/>
          <p:cNvSpPr/>
          <p:nvPr/>
        </p:nvSpPr>
        <p:spPr>
          <a:xfrm>
            <a:off x="2609500" y="3331600"/>
            <a:ext cx="284100" cy="471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24"/>
          <p:cNvSpPr txBox="1"/>
          <p:nvPr/>
        </p:nvSpPr>
        <p:spPr>
          <a:xfrm>
            <a:off x="590425" y="4112775"/>
            <a:ext cx="5843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MariaDB não tem comando full join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15012441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 txBox="1"/>
          <p:nvPr/>
        </p:nvSpPr>
        <p:spPr>
          <a:xfrm>
            <a:off x="668000" y="1459025"/>
            <a:ext cx="8016900" cy="18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Elas permitem realizar consultas mais complexas permitindo que você use o resultado de uma consulta como entrada para outra consulta.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5"/>
          <p:cNvSpPr txBox="1"/>
          <p:nvPr/>
        </p:nvSpPr>
        <p:spPr>
          <a:xfrm>
            <a:off x="539875" y="46900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Sub Consultas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9" name="Google Shape;179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108</a:t>
            </a:fld>
            <a:r>
              <a:rPr lang="en-US"/>
              <a:t>]</a:t>
            </a:r>
            <a:endParaRPr/>
          </a:p>
        </p:txBody>
      </p:sp>
      <p:pic>
        <p:nvPicPr>
          <p:cNvPr id="180" name="Google Shape;180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4807781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/>
          <p:nvPr/>
        </p:nvSpPr>
        <p:spPr>
          <a:xfrm>
            <a:off x="668000" y="402000"/>
            <a:ext cx="8016900" cy="43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subconsultas podem ser usadas em várias partes de uma consulta: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HAVING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6"/>
          <p:cNvSpPr txBox="1"/>
          <p:nvPr/>
        </p:nvSpPr>
        <p:spPr>
          <a:xfrm>
            <a:off x="539875" y="46900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Sub Consultas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7" name="Google Shape;187;p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109</a:t>
            </a:fld>
            <a:r>
              <a:rPr lang="en-US"/>
              <a:t>]</a:t>
            </a:r>
            <a:endParaRPr/>
          </a:p>
        </p:txBody>
      </p:sp>
      <p:pic>
        <p:nvPicPr>
          <p:cNvPr id="188" name="Google Shape;188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4633378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7"/>
          <p:cNvSpPr txBox="1"/>
          <p:nvPr/>
        </p:nvSpPr>
        <p:spPr>
          <a:xfrm>
            <a:off x="565525" y="741800"/>
            <a:ext cx="8016900" cy="4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https://github.com/pamelaborges/dio-bd-relacional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7"/>
          <p:cNvSpPr txBox="1"/>
          <p:nvPr/>
        </p:nvSpPr>
        <p:spPr>
          <a:xfrm>
            <a:off x="491825" y="25387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Scripts produzidos no Hands On	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5" name="Google Shape;195;p2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110</a:t>
            </a:fld>
            <a:r>
              <a:rPr lang="en-US"/>
              <a:t>]</a:t>
            </a:r>
            <a:endParaRPr/>
          </a:p>
        </p:txBody>
      </p:sp>
      <p:pic>
        <p:nvPicPr>
          <p:cNvPr id="196" name="Google Shape;196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3647347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8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 b="1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Referências: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https://mariadb.com/kb/en/joins/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16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8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3" name="Google Shape;203;p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111</a:t>
            </a:fld>
            <a:r>
              <a:rPr lang="en-US"/>
              <a:t>]</a:t>
            </a:r>
            <a:endParaRPr/>
          </a:p>
        </p:txBody>
      </p:sp>
      <p:pic>
        <p:nvPicPr>
          <p:cNvPr id="204" name="Google Shape;204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24959156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/>
          <p:nvPr/>
        </p:nvSpPr>
        <p:spPr>
          <a:xfrm>
            <a:off x="565525" y="3874338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Introdução aos Bancos de Dados Relacionais</a:t>
            </a:r>
            <a:endParaRPr sz="2400" b="0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524525" y="1006875"/>
            <a:ext cx="82428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Consultas Avançadas - Funções agregadas e Agrupamento de resultados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112</a:t>
            </a:fld>
            <a:r>
              <a:rPr lang="en-US"/>
              <a:t>]</a:t>
            </a:r>
            <a:endParaRPr/>
          </a:p>
        </p:txBody>
      </p:sp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94292" y="161566"/>
            <a:ext cx="651673" cy="2714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470607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/>
        </p:nvSpPr>
        <p:spPr>
          <a:xfrm>
            <a:off x="463075" y="1069650"/>
            <a:ext cx="8016900" cy="4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COUNT: Conta o número de registros.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SUM: Soma os valores de uma coluna numérica.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AVG: Calcula a média dos valores de uma coluna numérica.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MIN: Retorna o valor mínimo de uma coluna.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MAX: Retorna o valor máximo de uma coluna.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565525" y="8686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Funções Agregadas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" name="Google Shape;96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113</a:t>
            </a:fld>
            <a:r>
              <a:rPr lang="en-US"/>
              <a:t>]</a:t>
            </a:r>
            <a:endParaRPr/>
          </a:p>
        </p:txBody>
      </p:sp>
      <p:pic>
        <p:nvPicPr>
          <p:cNvPr id="97" name="Google Shape;9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8821724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/>
        </p:nvSpPr>
        <p:spPr>
          <a:xfrm>
            <a:off x="463075" y="1069650"/>
            <a:ext cx="8016900" cy="4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…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…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BY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565525" y="8686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Agrupamento de Resultados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114</a:t>
            </a:fld>
            <a:r>
              <a:rPr lang="en-US"/>
              <a:t>]</a:t>
            </a:r>
            <a:endParaRPr/>
          </a:p>
        </p:txBody>
      </p:sp>
      <p:pic>
        <p:nvPicPr>
          <p:cNvPr id="105" name="Google Shape;10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30517582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/>
        </p:nvSpPr>
        <p:spPr>
          <a:xfrm>
            <a:off x="463075" y="1069650"/>
            <a:ext cx="8016900" cy="4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…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…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BY …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 {{numero}}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OFFSET {{numero}}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*** opcional</a:t>
            </a: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565525" y="8686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Limite de Resultados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" name="Google Shape;112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115</a:t>
            </a:fld>
            <a:r>
              <a:rPr lang="en-US"/>
              <a:t>]</a:t>
            </a:r>
            <a:endParaRPr/>
          </a:p>
        </p:txBody>
      </p:sp>
      <p:pic>
        <p:nvPicPr>
          <p:cNvPr id="113" name="Google Shape;113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16583611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/>
        </p:nvSpPr>
        <p:spPr>
          <a:xfrm>
            <a:off x="463075" y="1069650"/>
            <a:ext cx="8016900" cy="4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…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…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ORDER BY</a:t>
            </a: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565525" y="8686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Ordenação de Resultados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0" name="Google Shape;120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116</a:t>
            </a:fld>
            <a:r>
              <a:rPr lang="en-US"/>
              <a:t>]</a:t>
            </a:r>
            <a:endParaRPr/>
          </a:p>
        </p:txBody>
      </p:sp>
      <p:pic>
        <p:nvPicPr>
          <p:cNvPr id="121" name="Google Shape;121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71135672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/>
        </p:nvSpPr>
        <p:spPr>
          <a:xfrm>
            <a:off x="463075" y="1069650"/>
            <a:ext cx="8016900" cy="4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ASC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Multiplas Colunas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565525" y="8686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Ordenação de Resultados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8" name="Google Shape;128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117</a:t>
            </a:fld>
            <a:r>
              <a:rPr lang="en-US"/>
              <a:t>]</a:t>
            </a:r>
            <a:endParaRPr/>
          </a:p>
        </p:txBody>
      </p:sp>
      <p:pic>
        <p:nvPicPr>
          <p:cNvPr id="129" name="Google Shape;129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308108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/>
        </p:nvSpPr>
        <p:spPr>
          <a:xfrm>
            <a:off x="565525" y="741800"/>
            <a:ext cx="8016900" cy="4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https://github.com/pamelaborges/dio-bd-relacional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0"/>
          <p:cNvSpPr txBox="1"/>
          <p:nvPr/>
        </p:nvSpPr>
        <p:spPr>
          <a:xfrm>
            <a:off x="491825" y="25387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Scripts produzidos no Hands On	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6" name="Google Shape;136;p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118</a:t>
            </a:fld>
            <a:r>
              <a:rPr lang="en-US"/>
              <a:t>]</a:t>
            </a:r>
            <a:endParaRPr/>
          </a:p>
        </p:txBody>
      </p:sp>
      <p:pic>
        <p:nvPicPr>
          <p:cNvPr id="137" name="Google Shape;137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21058893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 b="1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Referências: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https://mariadb.com/kb/en/aggregate-functions/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16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1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4" name="Google Shape;144;p2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119</a:t>
            </a:fld>
            <a:r>
              <a:rPr lang="en-US"/>
              <a:t>]</a:t>
            </a:r>
            <a:endParaRPr/>
          </a:p>
        </p:txBody>
      </p:sp>
      <p:pic>
        <p:nvPicPr>
          <p:cNvPr id="145" name="Google Shape;145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76385425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/>
          <p:nvPr/>
        </p:nvSpPr>
        <p:spPr>
          <a:xfrm>
            <a:off x="565525" y="3874338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Introdução aos Bancos de Dados Relacionais</a:t>
            </a:r>
            <a:endParaRPr sz="2400" b="0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524525" y="1006875"/>
            <a:ext cx="82428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Consultas Avançadas - Índices de Busca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120</a:t>
            </a:fld>
            <a:r>
              <a:rPr lang="en-US"/>
              <a:t>]</a:t>
            </a:r>
            <a:endParaRPr/>
          </a:p>
        </p:txBody>
      </p:sp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94292" y="161566"/>
            <a:ext cx="651673" cy="2714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75025707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/>
        </p:nvSpPr>
        <p:spPr>
          <a:xfrm>
            <a:off x="463075" y="1069650"/>
            <a:ext cx="8016900" cy="4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Ela nos permite examinar as operações realizadas, as tabelas acessadas, os índices utilizados e outras informações importantes para identificar possíveis melhorias de desempenho.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565525" y="8686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Análise do Plano de Execução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" name="Google Shape;96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121</a:t>
            </a:fld>
            <a:r>
              <a:rPr lang="en-US"/>
              <a:t>]</a:t>
            </a:r>
            <a:endParaRPr/>
          </a:p>
        </p:txBody>
      </p:sp>
      <p:pic>
        <p:nvPicPr>
          <p:cNvPr id="97" name="Google Shape;9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9414990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/>
        </p:nvSpPr>
        <p:spPr>
          <a:xfrm>
            <a:off x="463075" y="1069650"/>
            <a:ext cx="8016900" cy="4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EXPLAIN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SELECT *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FROM {{TABELA}}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565525" y="8686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Análise do Plano de Execução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122</a:t>
            </a:fld>
            <a:r>
              <a:rPr lang="en-US"/>
              <a:t>]</a:t>
            </a:r>
            <a:endParaRPr/>
          </a:p>
        </p:txBody>
      </p:sp>
      <p:pic>
        <p:nvPicPr>
          <p:cNvPr id="105" name="Google Shape;10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994978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/>
        </p:nvSpPr>
        <p:spPr>
          <a:xfrm>
            <a:off x="463075" y="552875"/>
            <a:ext cx="8016900" cy="45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select_type:"SIMPLE", "SUBQUERY" , "JOIN"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type: "ALL" , "INDEX" entre outros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possible_keys: Os índices possíveis que podem ser utilizados na operação.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key: O índice utilizado na operação, se aplicável.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key_len: O comprimento do índice utilizado.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ref: As colunas ou constantes usadas para acessar o índice.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rows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565525" y="868625"/>
            <a:ext cx="80169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Análise do Plano de Execução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" name="Google Shape;112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123</a:t>
            </a:fld>
            <a:r>
              <a:rPr lang="en-US"/>
              <a:t>]</a:t>
            </a:r>
            <a:endParaRPr/>
          </a:p>
        </p:txBody>
      </p:sp>
      <p:pic>
        <p:nvPicPr>
          <p:cNvPr id="113" name="Google Shape;113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75108057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/>
        </p:nvSpPr>
        <p:spPr>
          <a:xfrm>
            <a:off x="463075" y="1069650"/>
            <a:ext cx="8016900" cy="4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Esses recursos são fundamentais para melhorar o desempenho das consultas e otimizar a recuperação de informações em bancos de dados.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565525" y="8686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Índices de Busca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0" name="Google Shape;120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124</a:t>
            </a:fld>
            <a:r>
              <a:rPr lang="en-US"/>
              <a:t>]</a:t>
            </a:r>
            <a:endParaRPr/>
          </a:p>
        </p:txBody>
      </p:sp>
      <p:pic>
        <p:nvPicPr>
          <p:cNvPr id="121" name="Google Shape;121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04340615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/>
        </p:nvSpPr>
        <p:spPr>
          <a:xfrm>
            <a:off x="463075" y="1069650"/>
            <a:ext cx="8016900" cy="4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INDEX {{nome_index}}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ON {{tabela}} ({{coluna1, coluna2…}});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565525" y="8686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Índices de Busca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8" name="Google Shape;128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125</a:t>
            </a:fld>
            <a:r>
              <a:rPr lang="en-US"/>
              <a:t>]</a:t>
            </a:r>
            <a:endParaRPr/>
          </a:p>
        </p:txBody>
      </p:sp>
      <p:pic>
        <p:nvPicPr>
          <p:cNvPr id="129" name="Google Shape;129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2236928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/>
        </p:nvSpPr>
        <p:spPr>
          <a:xfrm>
            <a:off x="565525" y="741800"/>
            <a:ext cx="8016900" cy="4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https://github.com/pamelaborges/dio-bd-relacional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0"/>
          <p:cNvSpPr txBox="1"/>
          <p:nvPr/>
        </p:nvSpPr>
        <p:spPr>
          <a:xfrm>
            <a:off x="491825" y="25387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Scripts produzidos no Hands On	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6" name="Google Shape;136;p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126</a:t>
            </a:fld>
            <a:r>
              <a:rPr lang="en-US"/>
              <a:t>]</a:t>
            </a:r>
            <a:endParaRPr/>
          </a:p>
        </p:txBody>
      </p:sp>
      <p:pic>
        <p:nvPicPr>
          <p:cNvPr id="137" name="Google Shape;137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75926987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 b="1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Referências: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https://mariadb.com/kb/en/alter-table/#add-index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16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1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4" name="Google Shape;144;p2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127</a:t>
            </a:fld>
            <a:r>
              <a:rPr lang="en-US"/>
              <a:t>]</a:t>
            </a:r>
            <a:endParaRPr/>
          </a:p>
        </p:txBody>
      </p:sp>
      <p:pic>
        <p:nvPicPr>
          <p:cNvPr id="145" name="Google Shape;145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78365148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/>
        </p:nvSpPr>
        <p:spPr>
          <a:xfrm>
            <a:off x="967981" y="2574161"/>
            <a:ext cx="6965926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Fórum</a:t>
            </a:r>
            <a:r>
              <a:rPr lang="en-US" sz="2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24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Artigos</a:t>
            </a:r>
            <a:r>
              <a:rPr lang="en-US" sz="2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- </a:t>
            </a:r>
            <a:r>
              <a:rPr lang="en-US" sz="2400" b="0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https://web.dio.me/article</a:t>
            </a:r>
            <a:r>
              <a:rPr lang="en-US" sz="2400" u="sng" dirty="0">
                <a:solidFill>
                  <a:schemeClr val="hlink"/>
                </a:solidFill>
              </a:rPr>
              <a:t>s</a:t>
            </a:r>
            <a:endParaRPr lang="en-US" sz="2400" b="0" i="0" u="sng" strike="noStrike" cap="none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2"/>
          <p:cNvSpPr txBox="1"/>
          <p:nvPr/>
        </p:nvSpPr>
        <p:spPr>
          <a:xfrm>
            <a:off x="1097377" y="1284651"/>
            <a:ext cx="6833892" cy="945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2" name="Google Shape;152;p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128</a:t>
            </a:fld>
            <a:r>
              <a:rPr lang="en-US"/>
              <a:t>]</a:t>
            </a:r>
            <a:endParaRPr/>
          </a:p>
        </p:txBody>
      </p:sp>
      <p:pic>
        <p:nvPicPr>
          <p:cNvPr id="153" name="Google Shape;153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94292" y="161566"/>
            <a:ext cx="651673" cy="2714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87091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E48B58A68BE64E9120D347E3E06B3A" ma:contentTypeVersion="17" ma:contentTypeDescription="Create a new document." ma:contentTypeScope="" ma:versionID="95cfa1b356ebc00e7ae0651ac289c61a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e4c6b8551cacebbb625ac86333d89105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2A5D25A-D767-4561-ACC1-4B035E20079A}">
  <ds:schemaRefs>
    <ds:schemaRef ds:uri="http://schemas.microsoft.com/office/2006/metadata/properties"/>
    <ds:schemaRef ds:uri="http://schemas.microsoft.com/office/infopath/2007/PartnerControls"/>
    <ds:schemaRef ds:uri="851b35d3-0456-4d6a-bc2f-da927e91d158"/>
    <ds:schemaRef ds:uri="19483571-f922-4e8e-9c1c-26f0a2252132"/>
  </ds:schemaRefs>
</ds:datastoreItem>
</file>

<file path=customXml/itemProps2.xml><?xml version="1.0" encoding="utf-8"?>
<ds:datastoreItem xmlns:ds="http://schemas.openxmlformats.org/officeDocument/2006/customXml" ds:itemID="{6C668956-8803-476B-8D60-ECB77B828C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D6CEF82-58AA-421A-B736-A94A7C337B7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1b35d3-0456-4d6a-bc2f-da927e91d158"/>
    <ds:schemaRef ds:uri="19483571-f922-4e8e-9c1c-26f0a22521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3894</Words>
  <Application>Microsoft Office PowerPoint</Application>
  <PresentationFormat>Apresentação no Ecrã (16:9)</PresentationFormat>
  <Paragraphs>723</Paragraphs>
  <Slides>128</Slides>
  <Notes>128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128</vt:i4>
      </vt:variant>
    </vt:vector>
  </HeadingPairs>
  <TitlesOfParts>
    <vt:vector size="129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renato.local</dc:creator>
  <cp:lastModifiedBy>Renato Seabra</cp:lastModifiedBy>
  <cp:revision>2</cp:revision>
  <dcterms:modified xsi:type="dcterms:W3CDTF">2025-07-14T14:24:38Z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</Properties>
</file>